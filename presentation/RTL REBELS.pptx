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 Bold" panose="020B0604020202020204" charset="0"/>
      <p:regular r:id="rId10"/>
    </p:embeddedFont>
    <p:embeddedFont>
      <p:font typeface="Horizon" panose="020B0604020202020204" charset="0"/>
      <p:regular r:id="rId11"/>
    </p:embeddedFont>
    <p:embeddedFont>
      <p:font typeface="Times New Roman MT" panose="020B0604020202020204" charset="0"/>
      <p:regular r:id="rId12"/>
    </p:embeddedFont>
    <p:embeddedFont>
      <p:font typeface="Times New Roman MT Bold" panose="020B0604020202020204" charset="0"/>
      <p:regular r:id="rId13"/>
    </p:embeddedFont>
    <p:embeddedFont>
      <p:font typeface="TS Qamus Bold" panose="020B0604020202020204" charset="-7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E20A9-CAA7-44CE-8686-D075D4D93C33}" v="38" dt="2026-08-28T13:08:50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12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hp" userId="c106d3f60ba7ea1e" providerId="LiveId" clId="{8675EC9B-3D11-4CB5-A949-4C74E4654834}"/>
    <pc:docChg chg="undo custSel modSld">
      <pc:chgData name="hp hp" userId="c106d3f60ba7ea1e" providerId="LiveId" clId="{8675EC9B-3D11-4CB5-A949-4C74E4654834}" dt="2026-08-28T13:09:17.815" v="3825" actId="20577"/>
      <pc:docMkLst>
        <pc:docMk/>
      </pc:docMkLst>
      <pc:sldChg chg="addSp delSp modSp mod">
        <pc:chgData name="hp hp" userId="c106d3f60ba7ea1e" providerId="LiveId" clId="{8675EC9B-3D11-4CB5-A949-4C74E4654834}" dt="2026-08-28T12:56:53.538" v="3687" actId="20577"/>
        <pc:sldMkLst>
          <pc:docMk/>
          <pc:sldMk cId="0" sldId="256"/>
        </pc:sldMkLst>
        <pc:spChg chg="mod">
          <ac:chgData name="hp hp" userId="c106d3f60ba7ea1e" providerId="LiveId" clId="{8675EC9B-3D11-4CB5-A949-4C74E4654834}" dt="2026-08-28T09:45:53.905" v="190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hp hp" userId="c106d3f60ba7ea1e" providerId="LiveId" clId="{8675EC9B-3D11-4CB5-A949-4C74E4654834}" dt="2026-08-28T09:45:47.026" v="18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hp hp" userId="c106d3f60ba7ea1e" providerId="LiveId" clId="{8675EC9B-3D11-4CB5-A949-4C74E4654834}" dt="2026-08-28T09:46:26.908" v="220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p hp" userId="c106d3f60ba7ea1e" providerId="LiveId" clId="{8675EC9B-3D11-4CB5-A949-4C74E4654834}" dt="2026-08-28T12:56:53.538" v="3687" actId="20577"/>
          <ac:spMkLst>
            <pc:docMk/>
            <pc:sldMk cId="0" sldId="256"/>
            <ac:spMk id="12" creationId="{00000000-0000-0000-0000-000000000000}"/>
          </ac:spMkLst>
        </pc:spChg>
        <pc:spChg chg="add del mod">
          <ac:chgData name="hp hp" userId="c106d3f60ba7ea1e" providerId="LiveId" clId="{8675EC9B-3D11-4CB5-A949-4C74E4654834}" dt="2026-08-28T09:40:12.161" v="18"/>
          <ac:spMkLst>
            <pc:docMk/>
            <pc:sldMk cId="0" sldId="256"/>
            <ac:spMk id="15" creationId="{ECCF9BEE-0C0A-CA16-29CB-D72504F68435}"/>
          </ac:spMkLst>
        </pc:spChg>
        <pc:spChg chg="add del mod">
          <ac:chgData name="hp hp" userId="c106d3f60ba7ea1e" providerId="LiveId" clId="{8675EC9B-3D11-4CB5-A949-4C74E4654834}" dt="2026-08-28T09:44:53.709" v="186"/>
          <ac:spMkLst>
            <pc:docMk/>
            <pc:sldMk cId="0" sldId="256"/>
            <ac:spMk id="16" creationId="{DF853172-B880-0B0D-2050-8EC9CF7E59A1}"/>
          </ac:spMkLst>
        </pc:spChg>
      </pc:sldChg>
      <pc:sldChg chg="addSp delSp modSp mod">
        <pc:chgData name="hp hp" userId="c106d3f60ba7ea1e" providerId="LiveId" clId="{8675EC9B-3D11-4CB5-A949-4C74E4654834}" dt="2026-08-28T10:40:41.921" v="1647" actId="20577"/>
        <pc:sldMkLst>
          <pc:docMk/>
          <pc:sldMk cId="0" sldId="257"/>
        </pc:sldMkLst>
        <pc:spChg chg="mod">
          <ac:chgData name="hp hp" userId="c106d3f60ba7ea1e" providerId="LiveId" clId="{8675EC9B-3D11-4CB5-A949-4C74E4654834}" dt="2026-08-28T10:36:04.624" v="1626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hp hp" userId="c106d3f60ba7ea1e" providerId="LiveId" clId="{8675EC9B-3D11-4CB5-A949-4C74E4654834}" dt="2026-08-28T10:40:41.921" v="164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hp hp" userId="c106d3f60ba7ea1e" providerId="LiveId" clId="{8675EC9B-3D11-4CB5-A949-4C74E4654834}" dt="2026-08-28T09:57:34.887" v="560" actId="1076"/>
          <ac:spMkLst>
            <pc:docMk/>
            <pc:sldMk cId="0" sldId="257"/>
            <ac:spMk id="8" creationId="{00000000-0000-0000-0000-000000000000}"/>
          </ac:spMkLst>
        </pc:spChg>
        <pc:graphicFrameChg chg="add del modGraphic">
          <ac:chgData name="hp hp" userId="c106d3f60ba7ea1e" providerId="LiveId" clId="{8675EC9B-3D11-4CB5-A949-4C74E4654834}" dt="2026-08-28T09:58:18.672" v="584" actId="3680"/>
          <ac:graphicFrameMkLst>
            <pc:docMk/>
            <pc:sldMk cId="0" sldId="257"/>
            <ac:graphicFrameMk id="10" creationId="{204C7A04-DF2F-F1EA-A0D5-33FBAFE4DAEF}"/>
          </ac:graphicFrameMkLst>
        </pc:graphicFrameChg>
      </pc:sldChg>
      <pc:sldChg chg="modSp mod">
        <pc:chgData name="hp hp" userId="c106d3f60ba7ea1e" providerId="LiveId" clId="{8675EC9B-3D11-4CB5-A949-4C74E4654834}" dt="2026-08-28T10:43:24.159" v="1651" actId="20577"/>
        <pc:sldMkLst>
          <pc:docMk/>
          <pc:sldMk cId="0" sldId="258"/>
        </pc:sldMkLst>
        <pc:spChg chg="mod">
          <ac:chgData name="hp hp" userId="c106d3f60ba7ea1e" providerId="LiveId" clId="{8675EC9B-3D11-4CB5-A949-4C74E4654834}" dt="2026-08-28T10:43:24.159" v="1651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modSp mod">
        <pc:chgData name="hp hp" userId="c106d3f60ba7ea1e" providerId="LiveId" clId="{8675EC9B-3D11-4CB5-A949-4C74E4654834}" dt="2026-08-28T11:04:12.290" v="1728" actId="14100"/>
        <pc:sldMkLst>
          <pc:docMk/>
          <pc:sldMk cId="0" sldId="259"/>
        </pc:sldMkLst>
        <pc:spChg chg="mod">
          <ac:chgData name="hp hp" userId="c106d3f60ba7ea1e" providerId="LiveId" clId="{8675EC9B-3D11-4CB5-A949-4C74E4654834}" dt="2026-08-28T11:02:14.231" v="1676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hp hp" userId="c106d3f60ba7ea1e" providerId="LiveId" clId="{8675EC9B-3D11-4CB5-A949-4C74E4654834}" dt="2026-08-28T11:03:48.232" v="1724" actId="255"/>
          <ac:spMkLst>
            <pc:docMk/>
            <pc:sldMk cId="0" sldId="259"/>
            <ac:spMk id="10" creationId="{00000000-0000-0000-0000-000000000000}"/>
          </ac:spMkLst>
        </pc:spChg>
        <pc:picChg chg="add mod">
          <ac:chgData name="hp hp" userId="c106d3f60ba7ea1e" providerId="LiveId" clId="{8675EC9B-3D11-4CB5-A949-4C74E4654834}" dt="2026-08-28T11:04:12.290" v="1728" actId="14100"/>
          <ac:picMkLst>
            <pc:docMk/>
            <pc:sldMk cId="0" sldId="259"/>
            <ac:picMk id="12" creationId="{680E9A08-F809-3666-79C9-271CBD5CAA6B}"/>
          </ac:picMkLst>
        </pc:picChg>
      </pc:sldChg>
      <pc:sldChg chg="modSp mod">
        <pc:chgData name="hp hp" userId="c106d3f60ba7ea1e" providerId="LiveId" clId="{8675EC9B-3D11-4CB5-A949-4C74E4654834}" dt="2026-08-28T11:21:33.278" v="2006" actId="12"/>
        <pc:sldMkLst>
          <pc:docMk/>
          <pc:sldMk cId="0" sldId="260"/>
        </pc:sldMkLst>
        <pc:spChg chg="mod">
          <ac:chgData name="hp hp" userId="c106d3f60ba7ea1e" providerId="LiveId" clId="{8675EC9B-3D11-4CB5-A949-4C74E4654834}" dt="2026-08-28T11:21:33.278" v="2006" actId="12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hp hp" userId="c106d3f60ba7ea1e" providerId="LiveId" clId="{8675EC9B-3D11-4CB5-A949-4C74E4654834}" dt="2026-08-28T11:59:57.315" v="2824" actId="20577"/>
        <pc:sldMkLst>
          <pc:docMk/>
          <pc:sldMk cId="0" sldId="261"/>
        </pc:sldMkLst>
        <pc:spChg chg="mod">
          <ac:chgData name="hp hp" userId="c106d3f60ba7ea1e" providerId="LiveId" clId="{8675EC9B-3D11-4CB5-A949-4C74E4654834}" dt="2026-08-28T11:39:23.535" v="2359" actId="782"/>
          <ac:spMkLst>
            <pc:docMk/>
            <pc:sldMk cId="0" sldId="261"/>
            <ac:spMk id="4" creationId="{00000000-0000-0000-0000-000000000000}"/>
          </ac:spMkLst>
        </pc:spChg>
        <pc:spChg chg="mod">
          <ac:chgData name="hp hp" userId="c106d3f60ba7ea1e" providerId="LiveId" clId="{8675EC9B-3D11-4CB5-A949-4C74E4654834}" dt="2026-08-28T11:59:57.315" v="2824" actId="20577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 mod">
        <pc:chgData name="hp hp" userId="c106d3f60ba7ea1e" providerId="LiveId" clId="{8675EC9B-3D11-4CB5-A949-4C74E4654834}" dt="2026-08-28T13:09:17.815" v="3825" actId="20577"/>
        <pc:sldMkLst>
          <pc:docMk/>
          <pc:sldMk cId="0" sldId="262"/>
        </pc:sldMkLst>
        <pc:spChg chg="mod">
          <ac:chgData name="hp hp" userId="c106d3f60ba7ea1e" providerId="LiveId" clId="{8675EC9B-3D11-4CB5-A949-4C74E4654834}" dt="2026-08-28T13:09:17.815" v="3825" actId="20577"/>
          <ac:spMkLst>
            <pc:docMk/>
            <pc:sldMk cId="0" sldId="262"/>
            <ac:spMk id="10" creationId="{00000000-0000-0000-0000-000000000000}"/>
          </ac:spMkLst>
        </pc:spChg>
        <pc:spChg chg="add del mod">
          <ac:chgData name="hp hp" userId="c106d3f60ba7ea1e" providerId="LiveId" clId="{8675EC9B-3D11-4CB5-A949-4C74E4654834}" dt="2026-08-28T12:52:28.737" v="3640"/>
          <ac:spMkLst>
            <pc:docMk/>
            <pc:sldMk cId="0" sldId="262"/>
            <ac:spMk id="11" creationId="{E39C5A88-CBAB-EBA9-F3B0-9746ED125BB6}"/>
          </ac:spMkLst>
        </pc:spChg>
        <pc:spChg chg="add del mod">
          <ac:chgData name="hp hp" userId="c106d3f60ba7ea1e" providerId="LiveId" clId="{8675EC9B-3D11-4CB5-A949-4C74E4654834}" dt="2026-08-28T12:52:28.865" v="3643"/>
          <ac:spMkLst>
            <pc:docMk/>
            <pc:sldMk cId="0" sldId="262"/>
            <ac:spMk id="12" creationId="{89DDDFC1-F940-5537-B26F-47280FD42E7A}"/>
          </ac:spMkLst>
        </pc:spChg>
        <pc:spChg chg="add del mod">
          <ac:chgData name="hp hp" userId="c106d3f60ba7ea1e" providerId="LiveId" clId="{8675EC9B-3D11-4CB5-A949-4C74E4654834}" dt="2026-08-28T12:56:19.166" v="3646"/>
          <ac:spMkLst>
            <pc:docMk/>
            <pc:sldMk cId="0" sldId="262"/>
            <ac:spMk id="13" creationId="{9152BAE8-DBB6-01DB-7315-85285ADECFE5}"/>
          </ac:spMkLst>
        </pc:spChg>
        <pc:spChg chg="add del mod">
          <ac:chgData name="hp hp" userId="c106d3f60ba7ea1e" providerId="LiveId" clId="{8675EC9B-3D11-4CB5-A949-4C74E4654834}" dt="2026-08-28T12:56:20.231" v="3650"/>
          <ac:spMkLst>
            <pc:docMk/>
            <pc:sldMk cId="0" sldId="262"/>
            <ac:spMk id="14" creationId="{2B287E28-A8CA-36ED-5677-12FBB299D2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hare.google/3oxbU1rZyKmIiO8du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csrc.nist.gov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hyperlink" Target="https://developer.arm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362341" y="2362123"/>
            <a:ext cx="6473404" cy="6759319"/>
          </a:xfrm>
          <a:custGeom>
            <a:avLst/>
            <a:gdLst/>
            <a:ahLst/>
            <a:cxnLst/>
            <a:rect l="l" t="t" r="r" b="b"/>
            <a:pathLst>
              <a:path w="6473404" h="6759319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6376346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5243814" y="1910177"/>
            <a:ext cx="6993421" cy="1253616"/>
          </a:xfrm>
          <a:custGeom>
            <a:avLst/>
            <a:gdLst/>
            <a:ahLst/>
            <a:cxnLst/>
            <a:rect l="l" t="t" r="r" b="b"/>
            <a:pathLst>
              <a:path w="6993421" h="1253616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110" b="-3484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286724" y="4076095"/>
            <a:ext cx="15562876" cy="634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2"/>
              </a:lnSpc>
            </a:pPr>
            <a:r>
              <a:rPr lang="en-US" sz="370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NAME:</a:t>
            </a:r>
            <a:r>
              <a:rPr lang="en-US" sz="3708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RTL REBELS</a:t>
            </a:r>
            <a:endParaRPr lang="en-US" sz="3708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6724" y="5246859"/>
            <a:ext cx="10457476" cy="65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73"/>
              </a:lnSpc>
            </a:pPr>
            <a:r>
              <a:rPr lang="en-US" sz="383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PROBELM STATEMENT NO: PS 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724" y="7122407"/>
            <a:ext cx="14115076" cy="670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390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5783" y="6290642"/>
            <a:ext cx="17856583" cy="3042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76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PROBLEM STATEMENT TITLE: </a:t>
            </a:r>
            <a:r>
              <a:rPr lang="en-GB" sz="4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HARDWARE AES-128 SYMMETRIC         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                  BLOCK CIPHER CORE WITH AXI-MM INTERFACE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GB" sz="40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PS CATEGORY : HARDWARE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US" sz="376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496495" y="4475004"/>
            <a:ext cx="17011502" cy="1810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61339" lvl="1"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2917" y="3259742"/>
            <a:ext cx="16446883" cy="6391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2"/>
              </a:lnSpc>
            </a:pPr>
            <a:r>
              <a:rPr lang="en-US" sz="3994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  <a:p>
            <a:pPr>
              <a:lnSpc>
                <a:spcPts val="5592"/>
              </a:lnSpc>
            </a:pPr>
            <a:endParaRPr lang="en-US" sz="3994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>
              <a:lnSpc>
                <a:spcPts val="5592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Real world problems :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Secure data encryption is needed in FPGA/SOC systems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Horizon"/>
              <a:cs typeface="Times New Roman" panose="02020603050405020304" pitchFamily="18" charset="0"/>
              <a:sym typeface="Horizon"/>
            </a:endParaRPr>
          </a:p>
          <a:p>
            <a:pPr>
              <a:lnSpc>
                <a:spcPts val="5592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Why it matters :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 Protects sensitive data with fast hardware  based  AES</a:t>
            </a:r>
          </a:p>
          <a:p>
            <a:pPr>
              <a:lnSpc>
                <a:spcPts val="5592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Current challenges :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Horizon"/>
              <a:cs typeface="Times New Roman" panose="02020603050405020304" pitchFamily="18" charset="0"/>
              <a:sym typeface="Horizon"/>
            </a:endParaRPr>
          </a:p>
          <a:p>
            <a:pPr marL="457200" indent="-457200">
              <a:lnSpc>
                <a:spcPts val="5592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Low LUT usage  (&lt;1500 )  </a:t>
            </a:r>
          </a:p>
          <a:p>
            <a:pPr marL="457200" indent="-457200">
              <a:lnSpc>
                <a:spcPts val="5592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High throughput  ( 1 block)</a:t>
            </a:r>
          </a:p>
          <a:p>
            <a:pPr marL="457200" indent="-457200">
              <a:lnSpc>
                <a:spcPts val="5592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Horizon"/>
                <a:cs typeface="Times New Roman" panose="02020603050405020304" pitchFamily="18" charset="0"/>
                <a:sym typeface="Horizon"/>
              </a:rPr>
              <a:t>No key/internal state leakage  </a:t>
            </a:r>
          </a:p>
          <a:p>
            <a:pPr marL="457200" indent="-457200" algn="ctr">
              <a:lnSpc>
                <a:spcPts val="5592"/>
              </a:lnSpc>
              <a:buFont typeface="Wingdings" panose="05000000000000000000" pitchFamily="2" charset="2"/>
              <a:buChar char="Ø"/>
            </a:pPr>
            <a:endParaRPr lang="en-US" sz="280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686800" y="987162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Freeform 9"/>
          <p:cNvSpPr/>
          <p:nvPr/>
        </p:nvSpPr>
        <p:spPr>
          <a:xfrm rot="-10800000" flipH="1" flipV="1">
            <a:off x="16316373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2341" y="3001780"/>
            <a:ext cx="18275659" cy="7262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4913" dirty="0" err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yOur</a:t>
            </a:r>
            <a:r>
              <a:rPr lang="en-US" sz="4913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 Solution</a:t>
            </a:r>
          </a:p>
          <a:p>
            <a:pPr marL="1104087" lvl="1" indent="-552044">
              <a:lnSpc>
                <a:spcPts val="7159"/>
              </a:lnSpc>
              <a:buFont typeface="Arial"/>
              <a:buChar char="•"/>
            </a:pPr>
            <a:r>
              <a:rPr lang="en-US" sz="5113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name :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Secure &amp; Resource optimized AES-128 FPGA Accelerator.</a:t>
            </a:r>
          </a:p>
          <a:p>
            <a:pPr marL="1104087" lvl="1" indent="-552044" algn="l">
              <a:lnSpc>
                <a:spcPts val="7159"/>
              </a:lnSpc>
              <a:buFont typeface="Arial"/>
              <a:buChar char="•"/>
            </a:pPr>
            <a:r>
              <a:rPr lang="en-US" sz="5113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One-line solution : </a:t>
            </a:r>
            <a:r>
              <a:rPr lang="en-US" sz="4000" dirty="0">
                <a:solidFill>
                  <a:srgbClr val="000000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A </a:t>
            </a:r>
            <a:r>
              <a:rPr lang="en-US" sz="4000" dirty="0" err="1">
                <a:solidFill>
                  <a:srgbClr val="000000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secure,high</a:t>
            </a:r>
            <a:r>
              <a:rPr lang="en-US" sz="4000" dirty="0">
                <a:solidFill>
                  <a:srgbClr val="000000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 speed AES-128 hardware accelerator with AXI-MM interface and optimized FPGA resource usage.</a:t>
            </a:r>
            <a:endParaRPr lang="en-US" sz="5113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1104087" lvl="1" indent="-552044" algn="l">
              <a:lnSpc>
                <a:spcPts val="7159"/>
              </a:lnSpc>
              <a:buFont typeface="Arial"/>
              <a:buChar char="•"/>
            </a:pPr>
            <a:r>
              <a:rPr lang="en-US" sz="5113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it solves the problem : </a:t>
            </a:r>
          </a:p>
          <a:p>
            <a:pPr marL="1123543" lvl="1" indent="-571500" algn="l">
              <a:lnSpc>
                <a:spcPts val="7159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Uses dynamic resources sharing to achieve &lt;1,500 LUTs.</a:t>
            </a:r>
          </a:p>
          <a:p>
            <a:pPr marL="1123543" lvl="1" indent="-571500" algn="l">
              <a:lnSpc>
                <a:spcPts val="7159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Targets 1AES block/10 clock cycles.</a:t>
            </a:r>
          </a:p>
          <a:p>
            <a:pPr marL="1123543" lvl="1" indent="-571500" algn="l">
              <a:lnSpc>
                <a:spcPts val="7159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Prevents key and intermediate state leakage through AXI-MM.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4" y="-456041"/>
            <a:ext cx="8468552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393938" y="4187014"/>
            <a:ext cx="5244862" cy="328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200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Architectural</a:t>
            </a:r>
          </a:p>
          <a:p>
            <a:pPr algn="l">
              <a:lnSpc>
                <a:spcPts val="5152"/>
              </a:lnSpc>
            </a:pPr>
            <a:r>
              <a:rPr lang="en-US" sz="3200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 Block diagram</a:t>
            </a:r>
          </a:p>
          <a:p>
            <a:pPr algn="l">
              <a:lnSpc>
                <a:spcPts val="5152"/>
              </a:lnSpc>
            </a:pPr>
            <a:endParaRPr lang="en-US" sz="320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marL="397273" lvl="1" algn="l">
              <a:lnSpc>
                <a:spcPts val="5152"/>
              </a:lnSpc>
            </a:pPr>
            <a:endParaRPr lang="en-US" sz="32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0E9A08-F809-3666-79C9-271CBD5CAA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714500"/>
            <a:ext cx="124968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52400" y="1687948"/>
            <a:ext cx="18433195" cy="1022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1"/>
              </a:lnSpc>
            </a:pPr>
            <a:r>
              <a:rPr lang="en-US" sz="35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Purpose of Blocks                          </a:t>
            </a:r>
          </a:p>
          <a:p>
            <a:pPr marL="285750" indent="-28575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AXI-MM Interface – Handles system data and control access.</a:t>
            </a:r>
          </a:p>
          <a:p>
            <a:pPr marL="285750" indent="-28575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AES Registers – Stores plaintext, key, control and final output.</a:t>
            </a:r>
          </a:p>
          <a:p>
            <a:pPr marL="285750" indent="-28575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AES Controller – Controls AES rounds and timing.</a:t>
            </a:r>
          </a:p>
          <a:p>
            <a:pPr marL="285750" indent="-28575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AES Datapath – Performs </a:t>
            </a:r>
            <a:r>
              <a:rPr lang="en-US" sz="320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SubBytes</a:t>
            </a: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ShiftRows</a:t>
            </a: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MixColumns</a:t>
            </a: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and </a:t>
            </a:r>
            <a:r>
              <a:rPr lang="en-US" sz="320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AddRoundKey</a:t>
            </a: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 marL="285750" indent="-28575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Key Expansion – Generates round keys on-the-fly.</a:t>
            </a:r>
          </a:p>
          <a:p>
            <a:pPr marL="285750" indent="-28575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Output Block – Provides the final 128-bit encrypted/decrypted data</a:t>
            </a:r>
            <a:r>
              <a:rPr lang="en-US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>
              <a:lnSpc>
                <a:spcPts val="5001"/>
              </a:lnSpc>
            </a:pPr>
            <a:r>
              <a:rPr lang="en-US" sz="3600" b="1" dirty="0">
                <a:solidFill>
                  <a:srgbClr val="000000"/>
                </a:solidFill>
                <a:latin typeface="Horizon" panose="020B0604020202020204" charset="0"/>
                <a:ea typeface="Horizon"/>
                <a:cs typeface="Horizon"/>
                <a:sym typeface="Horizon"/>
              </a:rPr>
              <a:t>Architecture trade-off</a:t>
            </a:r>
          </a:p>
          <a:p>
            <a:pPr marL="457200" indent="-45720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Resource sharing – Lower LUT usage.</a:t>
            </a:r>
          </a:p>
          <a:p>
            <a:pPr marL="457200" indent="-45720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Pipeline folding – High throughput.</a:t>
            </a:r>
          </a:p>
          <a:p>
            <a:pPr marL="457200" indent="-45720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On-the-fly keys – less memory &amp; better security.</a:t>
            </a:r>
          </a:p>
          <a:p>
            <a:pPr marL="457200" indent="-457200">
              <a:lnSpc>
                <a:spcPts val="5001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Secure AXI-MM – Prevents key/state leakage.</a:t>
            </a:r>
          </a:p>
          <a:p>
            <a:pPr algn="ctr">
              <a:lnSpc>
                <a:spcPts val="5001"/>
              </a:lnSpc>
            </a:pPr>
            <a:endParaRPr lang="en-US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39089" y="3349724"/>
            <a:ext cx="16372074" cy="562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2"/>
              </a:lnSpc>
            </a:pPr>
            <a:r>
              <a:rPr lang="en-US" sz="31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OUTPUTS AND RESULTS</a:t>
            </a:r>
          </a:p>
          <a:p>
            <a:pPr algn="ctr">
              <a:lnSpc>
                <a:spcPts val="4442"/>
              </a:lnSpc>
            </a:pPr>
            <a:endParaRPr lang="en-US" sz="3172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ctr">
              <a:lnSpc>
                <a:spcPts val="4442"/>
              </a:lnSpc>
            </a:pP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    AES-128 Encryption &amp; Decryption – </a:t>
            </a:r>
            <a:r>
              <a:rPr lang="en-US" sz="3172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Securely encrypts &amp; decrypts 128-bit data</a:t>
            </a: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 algn="ctr">
              <a:lnSpc>
                <a:spcPts val="4442"/>
              </a:lnSpc>
            </a:pP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10-Cycle Processing – </a:t>
            </a:r>
            <a:r>
              <a:rPr lang="en-US" sz="3172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Targets one AES block within 10 clock cycles</a:t>
            </a: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 algn="ctr">
              <a:lnSpc>
                <a:spcPts val="4442"/>
              </a:lnSpc>
            </a:pP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Low Resource Usage – </a:t>
            </a:r>
            <a:r>
              <a:rPr lang="en-US" sz="3172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Optimized to use less than 1,500 LUTs</a:t>
            </a: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 algn="ctr">
              <a:lnSpc>
                <a:spcPts val="4442"/>
              </a:lnSpc>
            </a:pP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Secure AXI-MM Interface – </a:t>
            </a:r>
            <a:r>
              <a:rPr lang="en-US" sz="3172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Enables safe system-level data communication</a:t>
            </a: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 algn="ctr">
              <a:lnSpc>
                <a:spcPts val="4442"/>
              </a:lnSpc>
            </a:pP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No Key Leakage – </a:t>
            </a:r>
            <a:r>
              <a:rPr lang="en-US" sz="3172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Internal keys and cipher states are kept protected</a:t>
            </a: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</a:t>
            </a:r>
          </a:p>
          <a:p>
            <a:pPr algn="justLow">
              <a:lnSpc>
                <a:spcPts val="4442"/>
              </a:lnSpc>
            </a:pP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     FPGA Implementation – </a:t>
            </a:r>
            <a:r>
              <a:rPr lang="en-US" sz="3172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Designed for the Arty S7-50 FPGA board</a:t>
            </a:r>
            <a:r>
              <a:rPr lang="en-US" sz="3172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 �</a:t>
            </a:r>
          </a:p>
          <a:p>
            <a:pPr algn="justLow">
              <a:lnSpc>
                <a:spcPts val="4442"/>
              </a:lnSpc>
            </a:pPr>
            <a:endParaRPr lang="en-US" sz="3172" b="1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4442"/>
              </a:lnSpc>
            </a:pPr>
            <a:endParaRPr lang="en-US" sz="3172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-2590800" y="3552582"/>
            <a:ext cx="20878800" cy="8643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3680" dirty="0" err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REFerence</a:t>
            </a:r>
            <a:endParaRPr lang="en-US" sz="368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endParaRPr lang="en-US" sz="368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r>
              <a:rPr lang="en-US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FIPS 197 – </a:t>
            </a:r>
            <a:r>
              <a:rPr lang="en-US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Advanced Encryption Standard (AES) - </a:t>
            </a:r>
            <a:r>
              <a:rPr lang="en-US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  <a:hlinkClick r:id="rId7"/>
              </a:rPr>
              <a:t>https://csrc.nist.gov/#</a:t>
            </a:r>
            <a:endParaRPr lang="en-US" sz="3680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r>
              <a:rPr lang="en-US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      </a:t>
            </a:r>
            <a:r>
              <a:rPr lang="en-US" sz="3680" b="1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Vivado</a:t>
            </a:r>
            <a:r>
              <a:rPr lang="en-US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Design Suite User Guide – 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  <a:hlinkClick r:id="rId8"/>
              </a:rPr>
              <a:t>https://share.google/3oxbU1rZyKmIiO8du</a:t>
            </a:r>
            <a:endParaRPr lang="fr-FR" sz="3680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r>
              <a:rPr lang="fr-FR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            Advanced </a:t>
            </a:r>
            <a:r>
              <a:rPr lang="fr-FR" sz="3680" b="1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Encryption</a:t>
            </a:r>
            <a:r>
              <a:rPr lang="fr-FR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Standard – </a:t>
            </a:r>
            <a:r>
              <a:rPr lang="fr-FR" sz="368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Morris.J.Dworkin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et al</a:t>
            </a:r>
            <a:r>
              <a:rPr lang="fr-FR" sz="368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.,- https://csrc.nist.gov/#</a:t>
            </a:r>
            <a:endParaRPr lang="en-US" sz="3680" b="1" dirty="0">
              <a:solidFill>
                <a:srgbClr val="000000"/>
              </a:solidFill>
              <a:latin typeface="Horizon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r>
              <a:rPr lang="en-US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NIST-</a:t>
            </a:r>
            <a:r>
              <a:rPr lang="en-US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Advanced encryption standard - </a:t>
            </a:r>
            <a:r>
              <a:rPr lang="en-US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  <a:hlinkClick r:id="rId7"/>
              </a:rPr>
              <a:t>https://csrc.nist.gov/#</a:t>
            </a:r>
            <a:endParaRPr lang="en-US" sz="3680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r>
              <a:rPr lang="en-US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   AMD-</a:t>
            </a:r>
            <a:r>
              <a:rPr lang="en-US" sz="368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Vivado</a:t>
            </a:r>
            <a:r>
              <a:rPr lang="en-US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Design (UG900)-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  <a:hlinkClick r:id="rId8"/>
              </a:rPr>
              <a:t>https://share.google/3oxbU1rZyKmIiO8du</a:t>
            </a:r>
            <a:endParaRPr lang="fr-FR" sz="3680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r>
              <a:rPr lang="fr-FR" sz="3680" b="1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                      ARM AMBA AXI-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AXI Protocol </a:t>
            </a:r>
            <a:r>
              <a:rPr lang="fr-FR" sz="3680" dirty="0" err="1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Specification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</a:rPr>
              <a:t>- </a:t>
            </a:r>
            <a:r>
              <a:rPr lang="fr-FR" sz="3680" dirty="0">
                <a:solidFill>
                  <a:srgbClr val="000000"/>
                </a:solidFill>
                <a:latin typeface="Times New Roman MT" panose="020B0604020202020204" charset="0"/>
                <a:ea typeface="Horizon"/>
                <a:cs typeface="Horizon"/>
                <a:sym typeface="Horizon"/>
                <a:hlinkClick r:id="rId9"/>
              </a:rPr>
              <a:t>https://developer.arm.com</a:t>
            </a:r>
            <a:endParaRPr lang="fr-FR" sz="3680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Horizon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Times New Roman MT" panose="020B0604020202020204" charset="0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endParaRPr lang="en-US" sz="368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ctr">
              <a:lnSpc>
                <a:spcPts val="5152"/>
              </a:lnSpc>
            </a:pPr>
            <a:endParaRPr lang="en-US" sz="368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480231" y="2075011"/>
            <a:ext cx="17559971" cy="6332565"/>
          </a:xfrm>
          <a:custGeom>
            <a:avLst/>
            <a:gdLst/>
            <a:ahLst/>
            <a:cxnLst/>
            <a:rect l="l" t="t" r="r" b="b"/>
            <a:pathLst>
              <a:path w="17559971" h="6332565">
                <a:moveTo>
                  <a:pt x="0" y="0"/>
                </a:moveTo>
                <a:lnTo>
                  <a:pt x="17559971" y="0"/>
                </a:lnTo>
                <a:lnTo>
                  <a:pt x="17559971" y="6332564"/>
                </a:lnTo>
                <a:lnTo>
                  <a:pt x="0" y="6332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73036" y="2611531"/>
            <a:ext cx="17167166" cy="538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1.NO SLIDES SHOULD BE REUSED EXCEPT THE OUTPUT AND RESULT SLIDE (SLIDE 6) 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NOTE: MAXIMUM OF 10 SLIDES (NOT MORE THAN THAT)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marL="472383" lvl="1" indent="-236192" algn="l">
              <a:lnSpc>
                <a:spcPts val="2384"/>
              </a:lnSpc>
              <a:spcBef>
                <a:spcPct val="0"/>
              </a:spcBef>
              <a:buAutoNum type="arabicPeriod"/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TRY TO EXPLAIN THE CONTENT IN PROBLEM STATEMENT SLIDE 2 AND THE SOLUTION SLIDE 3 IN A NEAT BULLET POINTS  AND TRY TO KEEP REST OF PRESENTATIONS WITH MINIMAL TEXT </a:t>
            </a:r>
          </a:p>
          <a:p>
            <a:pPr algn="l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3.KEEP YOUR EXPLANATION PRECISE AND EASY TO UNDERSTAND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4.IDEA SHOULD BE UNIQUE AND NOVEL. 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5.YOU CAN ONLY USE PROVIDED TEMPLATE FOR MAKING THE PPT WITHOUT CHANGING THE IDEA DETAILS POINTERS (MENTIONED IN PREVIOUS SLIDES).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6.YOU NEED TO SAVE THE FILE IN PDF AND UPLOAD THE SAME ON GITHUB . WORD DOC OR ANY OTHER FORMAT WILL BE SUPPORTED 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.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NOTE - YOU CAN DELETE THIS SLIDE (IMPORTANT POINTERS) WHEN YOU UPLOAD THE DETAILS OF YOUR IDEA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575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Times New Roman MT Bold</vt:lpstr>
      <vt:lpstr>Canva Sans Bold</vt:lpstr>
      <vt:lpstr>Horizon</vt:lpstr>
      <vt:lpstr>Times New Roman MT</vt:lpstr>
      <vt:lpstr>Times New Roman</vt:lpstr>
      <vt:lpstr>Wingdings</vt:lpstr>
      <vt:lpstr>Calibri</vt:lpstr>
      <vt:lpstr>Arial</vt:lpstr>
      <vt:lpstr>TS Qamus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cp:lastModifiedBy>hp hp</cp:lastModifiedBy>
  <cp:revision>2</cp:revision>
  <dcterms:created xsi:type="dcterms:W3CDTF">2006-08-16T00:00:00Z</dcterms:created>
  <dcterms:modified xsi:type="dcterms:W3CDTF">2026-08-28T13:09:25Z</dcterms:modified>
  <dc:identifier>DAHTdevX50Q</dc:identifier>
</cp:coreProperties>
</file>