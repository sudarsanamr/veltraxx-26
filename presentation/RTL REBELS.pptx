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4" r:id="rId4"/>
    <p:sldId id="265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Canva Sans Bold" panose="020B0604020202020204" charset="0"/>
      <p:regular r:id="rId9"/>
    </p:embeddedFont>
    <p:embeddedFont>
      <p:font typeface="Horizon" panose="020B0604020202020204" charset="0"/>
      <p:regular r:id="rId10"/>
    </p:embeddedFont>
    <p:embeddedFont>
      <p:font typeface="Times New Roman MT" panose="020B0604020202020204" charset="0"/>
      <p:regular r:id="rId11"/>
    </p:embeddedFont>
    <p:embeddedFont>
      <p:font typeface="Times New Roman MT Bold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7E20A9-CAA7-44CE-8686-D075D4D93C33}" v="64" dt="2026-08-29T04:22:03.3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p hp" userId="c106d3f60ba7ea1e" providerId="LiveId" clId="{8675EC9B-3D11-4CB5-A949-4C74E4654834}"/>
    <pc:docChg chg="undo redo custSel addSld delSld modSld">
      <pc:chgData name="hp hp" userId="c106d3f60ba7ea1e" providerId="LiveId" clId="{8675EC9B-3D11-4CB5-A949-4C74E4654834}" dt="2026-08-29T04:23:08.013" v="4373" actId="113"/>
      <pc:docMkLst>
        <pc:docMk/>
      </pc:docMkLst>
      <pc:sldChg chg="addSp delSp modSp mod">
        <pc:chgData name="hp hp" userId="c106d3f60ba7ea1e" providerId="LiveId" clId="{8675EC9B-3D11-4CB5-A949-4C74E4654834}" dt="2026-08-29T03:12:50.270" v="3828" actId="20577"/>
        <pc:sldMkLst>
          <pc:docMk/>
          <pc:sldMk cId="0" sldId="256"/>
        </pc:sldMkLst>
        <pc:spChg chg="mod">
          <ac:chgData name="hp hp" userId="c106d3f60ba7ea1e" providerId="LiveId" clId="{8675EC9B-3D11-4CB5-A949-4C74E4654834}" dt="2026-08-28T09:45:53.905" v="190" actId="14100"/>
          <ac:spMkLst>
            <pc:docMk/>
            <pc:sldMk cId="0" sldId="256"/>
            <ac:spMk id="9" creationId="{00000000-0000-0000-0000-000000000000}"/>
          </ac:spMkLst>
        </pc:spChg>
        <pc:spChg chg="mod">
          <ac:chgData name="hp hp" userId="c106d3f60ba7ea1e" providerId="LiveId" clId="{8675EC9B-3D11-4CB5-A949-4C74E4654834}" dt="2026-08-29T03:12:50.270" v="3828" actId="20577"/>
          <ac:spMkLst>
            <pc:docMk/>
            <pc:sldMk cId="0" sldId="256"/>
            <ac:spMk id="10" creationId="{00000000-0000-0000-0000-000000000000}"/>
          </ac:spMkLst>
        </pc:spChg>
        <pc:spChg chg="mod">
          <ac:chgData name="hp hp" userId="c106d3f60ba7ea1e" providerId="LiveId" clId="{8675EC9B-3D11-4CB5-A949-4C74E4654834}" dt="2026-08-28T09:46:26.908" v="220" actId="20577"/>
          <ac:spMkLst>
            <pc:docMk/>
            <pc:sldMk cId="0" sldId="256"/>
            <ac:spMk id="11" creationId="{00000000-0000-0000-0000-000000000000}"/>
          </ac:spMkLst>
        </pc:spChg>
        <pc:spChg chg="mod">
          <ac:chgData name="hp hp" userId="c106d3f60ba7ea1e" providerId="LiveId" clId="{8675EC9B-3D11-4CB5-A949-4C74E4654834}" dt="2026-08-28T12:56:53.538" v="3687" actId="20577"/>
          <ac:spMkLst>
            <pc:docMk/>
            <pc:sldMk cId="0" sldId="256"/>
            <ac:spMk id="12" creationId="{00000000-0000-0000-0000-000000000000}"/>
          </ac:spMkLst>
        </pc:spChg>
        <pc:spChg chg="add del mod">
          <ac:chgData name="hp hp" userId="c106d3f60ba7ea1e" providerId="LiveId" clId="{8675EC9B-3D11-4CB5-A949-4C74E4654834}" dt="2026-08-28T09:40:12.161" v="18"/>
          <ac:spMkLst>
            <pc:docMk/>
            <pc:sldMk cId="0" sldId="256"/>
            <ac:spMk id="15" creationId="{ECCF9BEE-0C0A-CA16-29CB-D72504F68435}"/>
          </ac:spMkLst>
        </pc:spChg>
        <pc:spChg chg="add del mod">
          <ac:chgData name="hp hp" userId="c106d3f60ba7ea1e" providerId="LiveId" clId="{8675EC9B-3D11-4CB5-A949-4C74E4654834}" dt="2026-08-28T09:44:53.709" v="186"/>
          <ac:spMkLst>
            <pc:docMk/>
            <pc:sldMk cId="0" sldId="256"/>
            <ac:spMk id="16" creationId="{DF853172-B880-0B0D-2050-8EC9CF7E59A1}"/>
          </ac:spMkLst>
        </pc:spChg>
      </pc:sldChg>
      <pc:sldChg chg="addSp delSp modSp mod">
        <pc:chgData name="hp hp" userId="c106d3f60ba7ea1e" providerId="LiveId" clId="{8675EC9B-3D11-4CB5-A949-4C74E4654834}" dt="2026-08-29T04:06:01.235" v="4216" actId="12"/>
        <pc:sldMkLst>
          <pc:docMk/>
          <pc:sldMk cId="0" sldId="257"/>
        </pc:sldMkLst>
        <pc:spChg chg="mod">
          <ac:chgData name="hp hp" userId="c106d3f60ba7ea1e" providerId="LiveId" clId="{8675EC9B-3D11-4CB5-A949-4C74E4654834}" dt="2026-08-28T10:36:04.624" v="1626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hp hp" userId="c106d3f60ba7ea1e" providerId="LiveId" clId="{8675EC9B-3D11-4CB5-A949-4C74E4654834}" dt="2026-08-29T03:23:56.157" v="3840"/>
          <ac:spMkLst>
            <pc:docMk/>
            <pc:sldMk cId="0" sldId="257"/>
            <ac:spMk id="7" creationId="{00000000-0000-0000-0000-000000000000}"/>
          </ac:spMkLst>
        </pc:spChg>
        <pc:spChg chg="mod">
          <ac:chgData name="hp hp" userId="c106d3f60ba7ea1e" providerId="LiveId" clId="{8675EC9B-3D11-4CB5-A949-4C74E4654834}" dt="2026-08-28T09:57:34.887" v="560" actId="1076"/>
          <ac:spMkLst>
            <pc:docMk/>
            <pc:sldMk cId="0" sldId="257"/>
            <ac:spMk id="8" creationId="{00000000-0000-0000-0000-000000000000}"/>
          </ac:spMkLst>
        </pc:spChg>
        <pc:spChg chg="add mod">
          <ac:chgData name="hp hp" userId="c106d3f60ba7ea1e" providerId="LiveId" clId="{8675EC9B-3D11-4CB5-A949-4C74E4654834}" dt="2026-08-29T04:06:01.235" v="4216" actId="12"/>
          <ac:spMkLst>
            <pc:docMk/>
            <pc:sldMk cId="0" sldId="257"/>
            <ac:spMk id="10" creationId="{514E0D0C-FD81-EC44-6FB9-7FA79BFA4010}"/>
          </ac:spMkLst>
        </pc:spChg>
        <pc:graphicFrameChg chg="add del modGraphic">
          <ac:chgData name="hp hp" userId="c106d3f60ba7ea1e" providerId="LiveId" clId="{8675EC9B-3D11-4CB5-A949-4C74E4654834}" dt="2026-08-28T09:58:18.672" v="584" actId="3680"/>
          <ac:graphicFrameMkLst>
            <pc:docMk/>
            <pc:sldMk cId="0" sldId="257"/>
            <ac:graphicFrameMk id="10" creationId="{204C7A04-DF2F-F1EA-A0D5-33FBAFE4DAEF}"/>
          </ac:graphicFrameMkLst>
        </pc:graphicFrameChg>
      </pc:sldChg>
      <pc:sldChg chg="modSp del mod">
        <pc:chgData name="hp hp" userId="c106d3f60ba7ea1e" providerId="LiveId" clId="{8675EC9B-3D11-4CB5-A949-4C74E4654834}" dt="2026-08-29T03:36:20.355" v="3934" actId="2696"/>
        <pc:sldMkLst>
          <pc:docMk/>
          <pc:sldMk cId="0" sldId="258"/>
        </pc:sldMkLst>
        <pc:spChg chg="mod">
          <ac:chgData name="hp hp" userId="c106d3f60ba7ea1e" providerId="LiveId" clId="{8675EC9B-3D11-4CB5-A949-4C74E4654834}" dt="2026-08-28T10:43:24.159" v="1651" actId="20577"/>
          <ac:spMkLst>
            <pc:docMk/>
            <pc:sldMk cId="0" sldId="258"/>
            <ac:spMk id="8" creationId="{00000000-0000-0000-0000-000000000000}"/>
          </ac:spMkLst>
        </pc:spChg>
      </pc:sldChg>
      <pc:sldChg chg="addSp modSp del mod">
        <pc:chgData name="hp hp" userId="c106d3f60ba7ea1e" providerId="LiveId" clId="{8675EC9B-3D11-4CB5-A949-4C74E4654834}" dt="2026-08-29T03:42:03.793" v="3949" actId="2696"/>
        <pc:sldMkLst>
          <pc:docMk/>
          <pc:sldMk cId="0" sldId="259"/>
        </pc:sldMkLst>
        <pc:spChg chg="mod">
          <ac:chgData name="hp hp" userId="c106d3f60ba7ea1e" providerId="LiveId" clId="{8675EC9B-3D11-4CB5-A949-4C74E4654834}" dt="2026-08-28T11:02:14.231" v="1676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hp hp" userId="c106d3f60ba7ea1e" providerId="LiveId" clId="{8675EC9B-3D11-4CB5-A949-4C74E4654834}" dt="2026-08-28T11:03:48.232" v="1724" actId="255"/>
          <ac:spMkLst>
            <pc:docMk/>
            <pc:sldMk cId="0" sldId="259"/>
            <ac:spMk id="10" creationId="{00000000-0000-0000-0000-000000000000}"/>
          </ac:spMkLst>
        </pc:spChg>
        <pc:picChg chg="add mod">
          <ac:chgData name="hp hp" userId="c106d3f60ba7ea1e" providerId="LiveId" clId="{8675EC9B-3D11-4CB5-A949-4C74E4654834}" dt="2026-08-29T03:38:47.922" v="3937" actId="1076"/>
          <ac:picMkLst>
            <pc:docMk/>
            <pc:sldMk cId="0" sldId="259"/>
            <ac:picMk id="12" creationId="{680E9A08-F809-3666-79C9-271CBD5CAA6B}"/>
          </ac:picMkLst>
        </pc:picChg>
      </pc:sldChg>
      <pc:sldChg chg="addSp delSp modSp mod modClrScheme chgLayout">
        <pc:chgData name="hp hp" userId="c106d3f60ba7ea1e" providerId="LiveId" clId="{8675EC9B-3D11-4CB5-A949-4C74E4654834}" dt="2026-08-29T04:23:08.013" v="4373" actId="113"/>
        <pc:sldMkLst>
          <pc:docMk/>
          <pc:sldMk cId="0" sldId="260"/>
        </pc:sldMkLst>
        <pc:spChg chg="mod">
          <ac:chgData name="hp hp" userId="c106d3f60ba7ea1e" providerId="LiveId" clId="{8675EC9B-3D11-4CB5-A949-4C74E4654834}" dt="2026-08-29T03:45:20.160" v="3990" actId="14100"/>
          <ac:spMkLst>
            <pc:docMk/>
            <pc:sldMk cId="0" sldId="260"/>
            <ac:spMk id="2" creationId="{00000000-0000-0000-0000-000000000000}"/>
          </ac:spMkLst>
        </pc:spChg>
        <pc:spChg chg="mod">
          <ac:chgData name="hp hp" userId="c106d3f60ba7ea1e" providerId="LiveId" clId="{8675EC9B-3D11-4CB5-A949-4C74E4654834}" dt="2026-08-29T03:45:14.547" v="3985" actId="1076"/>
          <ac:spMkLst>
            <pc:docMk/>
            <pc:sldMk cId="0" sldId="260"/>
            <ac:spMk id="10" creationId="{00000000-0000-0000-0000-000000000000}"/>
          </ac:spMkLst>
        </pc:spChg>
        <pc:spChg chg="add mod">
          <ac:chgData name="hp hp" userId="c106d3f60ba7ea1e" providerId="LiveId" clId="{8675EC9B-3D11-4CB5-A949-4C74E4654834}" dt="2026-08-29T03:45:18.910" v="3989" actId="767"/>
          <ac:spMkLst>
            <pc:docMk/>
            <pc:sldMk cId="0" sldId="260"/>
            <ac:spMk id="11" creationId="{DDCE1B7A-50F0-2449-5FE5-8D3CBE4BD9E8}"/>
          </ac:spMkLst>
        </pc:spChg>
        <pc:spChg chg="add del mod">
          <ac:chgData name="hp hp" userId="c106d3f60ba7ea1e" providerId="LiveId" clId="{8675EC9B-3D11-4CB5-A949-4C74E4654834}" dt="2026-08-29T03:45:13.743" v="3984" actId="767"/>
          <ac:spMkLst>
            <pc:docMk/>
            <pc:sldMk cId="0" sldId="260"/>
            <ac:spMk id="12" creationId="{0BC36698-3E03-3AE6-6E05-6B3B0B1868BF}"/>
          </ac:spMkLst>
        </pc:spChg>
        <pc:spChg chg="add del mod">
          <ac:chgData name="hp hp" userId="c106d3f60ba7ea1e" providerId="LiveId" clId="{8675EC9B-3D11-4CB5-A949-4C74E4654834}" dt="2026-08-29T03:45:11.427" v="3981" actId="767"/>
          <ac:spMkLst>
            <pc:docMk/>
            <pc:sldMk cId="0" sldId="260"/>
            <ac:spMk id="13" creationId="{FDA68985-5A79-4DE9-1C0B-46063E51AE17}"/>
          </ac:spMkLst>
        </pc:spChg>
        <pc:spChg chg="add del mod ord">
          <ac:chgData name="hp hp" userId="c106d3f60ba7ea1e" providerId="LiveId" clId="{8675EC9B-3D11-4CB5-A949-4C74E4654834}" dt="2026-08-29T03:45:08.296" v="3978" actId="700"/>
          <ac:spMkLst>
            <pc:docMk/>
            <pc:sldMk cId="0" sldId="260"/>
            <ac:spMk id="14" creationId="{42AADF48-004A-30F2-C003-E142BBD6ABA1}"/>
          </ac:spMkLst>
        </pc:spChg>
        <pc:spChg chg="add mod">
          <ac:chgData name="hp hp" userId="c106d3f60ba7ea1e" providerId="LiveId" clId="{8675EC9B-3D11-4CB5-A949-4C74E4654834}" dt="2026-08-29T04:23:08.013" v="4373" actId="113"/>
          <ac:spMkLst>
            <pc:docMk/>
            <pc:sldMk cId="0" sldId="260"/>
            <ac:spMk id="15" creationId="{5CA5C933-88E3-9968-6297-E6B43D7AA12B}"/>
          </ac:spMkLst>
        </pc:spChg>
      </pc:sldChg>
      <pc:sldChg chg="addSp delSp modSp mod">
        <pc:chgData name="hp hp" userId="c106d3f60ba7ea1e" providerId="LiveId" clId="{8675EC9B-3D11-4CB5-A949-4C74E4654834}" dt="2026-08-29T04:18:14.459" v="4289" actId="1076"/>
        <pc:sldMkLst>
          <pc:docMk/>
          <pc:sldMk cId="0" sldId="261"/>
        </pc:sldMkLst>
        <pc:spChg chg="mod">
          <ac:chgData name="hp hp" userId="c106d3f60ba7ea1e" providerId="LiveId" clId="{8675EC9B-3D11-4CB5-A949-4C74E4654834}" dt="2026-08-29T03:55:37.028" v="4054" actId="1076"/>
          <ac:spMkLst>
            <pc:docMk/>
            <pc:sldMk cId="0" sldId="261"/>
            <ac:spMk id="4" creationId="{00000000-0000-0000-0000-000000000000}"/>
          </ac:spMkLst>
        </pc:spChg>
        <pc:spChg chg="del mod">
          <ac:chgData name="hp hp" userId="c106d3f60ba7ea1e" providerId="LiveId" clId="{8675EC9B-3D11-4CB5-A949-4C74E4654834}" dt="2026-08-29T03:52:02.061" v="4025"/>
          <ac:spMkLst>
            <pc:docMk/>
            <pc:sldMk cId="0" sldId="261"/>
            <ac:spMk id="10" creationId="{00000000-0000-0000-0000-000000000000}"/>
          </ac:spMkLst>
        </pc:spChg>
        <pc:spChg chg="add mod">
          <ac:chgData name="hp hp" userId="c106d3f60ba7ea1e" providerId="LiveId" clId="{8675EC9B-3D11-4CB5-A949-4C74E4654834}" dt="2026-08-29T04:18:14.459" v="4289" actId="1076"/>
          <ac:spMkLst>
            <pc:docMk/>
            <pc:sldMk cId="0" sldId="261"/>
            <ac:spMk id="11" creationId="{1F90F034-3029-D1A9-C2D2-A770A9A40591}"/>
          </ac:spMkLst>
        </pc:spChg>
      </pc:sldChg>
      <pc:sldChg chg="addSp delSp modSp mod">
        <pc:chgData name="hp hp" userId="c106d3f60ba7ea1e" providerId="LiveId" clId="{8675EC9B-3D11-4CB5-A949-4C74E4654834}" dt="2026-08-29T04:00:58.263" v="4176" actId="14100"/>
        <pc:sldMkLst>
          <pc:docMk/>
          <pc:sldMk cId="0" sldId="262"/>
        </pc:sldMkLst>
        <pc:spChg chg="mod">
          <ac:chgData name="hp hp" userId="c106d3f60ba7ea1e" providerId="LiveId" clId="{8675EC9B-3D11-4CB5-A949-4C74E4654834}" dt="2026-08-29T03:57:52.084" v="4069" actId="6549"/>
          <ac:spMkLst>
            <pc:docMk/>
            <pc:sldMk cId="0" sldId="262"/>
            <ac:spMk id="10" creationId="{00000000-0000-0000-0000-000000000000}"/>
          </ac:spMkLst>
        </pc:spChg>
        <pc:spChg chg="add mod">
          <ac:chgData name="hp hp" userId="c106d3f60ba7ea1e" providerId="LiveId" clId="{8675EC9B-3D11-4CB5-A949-4C74E4654834}" dt="2026-08-29T04:00:58.263" v="4176" actId="14100"/>
          <ac:spMkLst>
            <pc:docMk/>
            <pc:sldMk cId="0" sldId="262"/>
            <ac:spMk id="11" creationId="{DE3D6C63-2169-1235-4C46-0396467BFD6C}"/>
          </ac:spMkLst>
        </pc:spChg>
        <pc:spChg chg="add del mod">
          <ac:chgData name="hp hp" userId="c106d3f60ba7ea1e" providerId="LiveId" clId="{8675EC9B-3D11-4CB5-A949-4C74E4654834}" dt="2026-08-28T12:52:28.737" v="3640"/>
          <ac:spMkLst>
            <pc:docMk/>
            <pc:sldMk cId="0" sldId="262"/>
            <ac:spMk id="11" creationId="{E39C5A88-CBAB-EBA9-F3B0-9746ED125BB6}"/>
          </ac:spMkLst>
        </pc:spChg>
        <pc:spChg chg="add del mod">
          <ac:chgData name="hp hp" userId="c106d3f60ba7ea1e" providerId="LiveId" clId="{8675EC9B-3D11-4CB5-A949-4C74E4654834}" dt="2026-08-28T12:52:28.865" v="3643"/>
          <ac:spMkLst>
            <pc:docMk/>
            <pc:sldMk cId="0" sldId="262"/>
            <ac:spMk id="12" creationId="{89DDDFC1-F940-5537-B26F-47280FD42E7A}"/>
          </ac:spMkLst>
        </pc:spChg>
        <pc:spChg chg="add del mod">
          <ac:chgData name="hp hp" userId="c106d3f60ba7ea1e" providerId="LiveId" clId="{8675EC9B-3D11-4CB5-A949-4C74E4654834}" dt="2026-08-28T12:56:19.166" v="3646"/>
          <ac:spMkLst>
            <pc:docMk/>
            <pc:sldMk cId="0" sldId="262"/>
            <ac:spMk id="13" creationId="{9152BAE8-DBB6-01DB-7315-85285ADECFE5}"/>
          </ac:spMkLst>
        </pc:spChg>
        <pc:spChg chg="add del mod">
          <ac:chgData name="hp hp" userId="c106d3f60ba7ea1e" providerId="LiveId" clId="{8675EC9B-3D11-4CB5-A949-4C74E4654834}" dt="2026-08-28T12:56:20.231" v="3650"/>
          <ac:spMkLst>
            <pc:docMk/>
            <pc:sldMk cId="0" sldId="262"/>
            <ac:spMk id="14" creationId="{2B287E28-A8CA-36ED-5677-12FBB299D217}"/>
          </ac:spMkLst>
        </pc:spChg>
      </pc:sldChg>
      <pc:sldChg chg="del">
        <pc:chgData name="hp hp" userId="c106d3f60ba7ea1e" providerId="LiveId" clId="{8675EC9B-3D11-4CB5-A949-4C74E4654834}" dt="2026-08-29T04:11:45.882" v="4217" actId="2696"/>
        <pc:sldMkLst>
          <pc:docMk/>
          <pc:sldMk cId="0" sldId="263"/>
        </pc:sldMkLst>
      </pc:sldChg>
      <pc:sldChg chg="new del">
        <pc:chgData name="hp hp" userId="c106d3f60ba7ea1e" providerId="LiveId" clId="{8675EC9B-3D11-4CB5-A949-4C74E4654834}" dt="2026-08-29T03:29:11.275" v="3886" actId="680"/>
        <pc:sldMkLst>
          <pc:docMk/>
          <pc:sldMk cId="384821711" sldId="264"/>
        </pc:sldMkLst>
      </pc:sldChg>
      <pc:sldChg chg="new del">
        <pc:chgData name="hp hp" userId="c106d3f60ba7ea1e" providerId="LiveId" clId="{8675EC9B-3D11-4CB5-A949-4C74E4654834}" dt="2026-08-29T03:29:20.295" v="3888" actId="680"/>
        <pc:sldMkLst>
          <pc:docMk/>
          <pc:sldMk cId="1113328371" sldId="264"/>
        </pc:sldMkLst>
      </pc:sldChg>
      <pc:sldChg chg="addSp delSp modSp add mod">
        <pc:chgData name="hp hp" userId="c106d3f60ba7ea1e" providerId="LiveId" clId="{8675EC9B-3D11-4CB5-A949-4C74E4654834}" dt="2026-08-29T03:36:00.242" v="3933" actId="255"/>
        <pc:sldMkLst>
          <pc:docMk/>
          <pc:sldMk cId="1491258336" sldId="264"/>
        </pc:sldMkLst>
        <pc:spChg chg="del mod">
          <ac:chgData name="hp hp" userId="c106d3f60ba7ea1e" providerId="LiveId" clId="{8675EC9B-3D11-4CB5-A949-4C74E4654834}" dt="2026-08-29T03:30:40.901" v="3893"/>
          <ac:spMkLst>
            <pc:docMk/>
            <pc:sldMk cId="1491258336" sldId="264"/>
            <ac:spMk id="8" creationId="{3C1FD63B-736E-C359-850C-F320E9355DE4}"/>
          </ac:spMkLst>
        </pc:spChg>
        <pc:spChg chg="add mod">
          <ac:chgData name="hp hp" userId="c106d3f60ba7ea1e" providerId="LiveId" clId="{8675EC9B-3D11-4CB5-A949-4C74E4654834}" dt="2026-08-29T03:36:00.242" v="3933" actId="255"/>
          <ac:spMkLst>
            <pc:docMk/>
            <pc:sldMk cId="1491258336" sldId="264"/>
            <ac:spMk id="9" creationId="{0914912D-3D65-A692-78E1-B687D450C1A0}"/>
          </ac:spMkLst>
        </pc:spChg>
      </pc:sldChg>
      <pc:sldChg chg="addSp delSp modSp add mod">
        <pc:chgData name="hp hp" userId="c106d3f60ba7ea1e" providerId="LiveId" clId="{8675EC9B-3D11-4CB5-A949-4C74E4654834}" dt="2026-08-29T03:41:41.521" v="3948" actId="14100"/>
        <pc:sldMkLst>
          <pc:docMk/>
          <pc:sldMk cId="4253906632" sldId="265"/>
        </pc:sldMkLst>
        <pc:spChg chg="mod">
          <ac:chgData name="hp hp" userId="c106d3f60ba7ea1e" providerId="LiveId" clId="{8675EC9B-3D11-4CB5-A949-4C74E4654834}" dt="2026-08-29T03:40:58.977" v="3942" actId="1076"/>
          <ac:spMkLst>
            <pc:docMk/>
            <pc:sldMk cId="4253906632" sldId="265"/>
            <ac:spMk id="3" creationId="{D6A64F7A-7DE7-709C-0B18-75D5EA7A051B}"/>
          </ac:spMkLst>
        </pc:spChg>
        <pc:picChg chg="del">
          <ac:chgData name="hp hp" userId="c106d3f60ba7ea1e" providerId="LiveId" clId="{8675EC9B-3D11-4CB5-A949-4C74E4654834}" dt="2026-08-29T03:39:24.820" v="3939" actId="21"/>
          <ac:picMkLst>
            <pc:docMk/>
            <pc:sldMk cId="4253906632" sldId="265"/>
            <ac:picMk id="12" creationId="{BBEF4ED4-B97D-AA1E-79CC-C3A7F31CA921}"/>
          </ac:picMkLst>
        </pc:picChg>
        <pc:picChg chg="add mod">
          <ac:chgData name="hp hp" userId="c106d3f60ba7ea1e" providerId="LiveId" clId="{8675EC9B-3D11-4CB5-A949-4C74E4654834}" dt="2026-08-29T03:41:41.521" v="3948" actId="14100"/>
          <ac:picMkLst>
            <pc:docMk/>
            <pc:sldMk cId="4253906632" sldId="265"/>
            <ac:picMk id="13" creationId="{3C228938-DC77-B1B3-7EA9-217AD72ECB2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3E5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5783" y="9121442"/>
            <a:ext cx="1165558" cy="1165558"/>
          </a:xfrm>
          <a:custGeom>
            <a:avLst/>
            <a:gdLst/>
            <a:ahLst/>
            <a:cxnLst/>
            <a:rect l="l" t="t" r="r" b="b"/>
            <a:pathLst>
              <a:path w="1165558" h="1165558">
                <a:moveTo>
                  <a:pt x="0" y="0"/>
                </a:moveTo>
                <a:lnTo>
                  <a:pt x="1165558" y="0"/>
                </a:lnTo>
                <a:lnTo>
                  <a:pt x="1165558" y="1165558"/>
                </a:lnTo>
                <a:lnTo>
                  <a:pt x="0" y="11655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6835744" y="146866"/>
            <a:ext cx="1204458" cy="1416140"/>
          </a:xfrm>
          <a:custGeom>
            <a:avLst/>
            <a:gdLst/>
            <a:ahLst/>
            <a:cxnLst/>
            <a:rect l="l" t="t" r="r" b="b"/>
            <a:pathLst>
              <a:path w="1204458" h="1416140">
                <a:moveTo>
                  <a:pt x="0" y="0"/>
                </a:moveTo>
                <a:lnTo>
                  <a:pt x="1204458" y="0"/>
                </a:lnTo>
                <a:lnTo>
                  <a:pt x="1204458" y="1416140"/>
                </a:lnTo>
                <a:lnTo>
                  <a:pt x="0" y="14161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33723" t="-76170" r="-689472" b="-85561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4600883" y="-456041"/>
            <a:ext cx="8641637" cy="2621955"/>
          </a:xfrm>
          <a:custGeom>
            <a:avLst/>
            <a:gdLst/>
            <a:ahLst/>
            <a:cxnLst/>
            <a:rect l="l" t="t" r="r" b="b"/>
            <a:pathLst>
              <a:path w="8641637" h="2621955">
                <a:moveTo>
                  <a:pt x="0" y="0"/>
                </a:moveTo>
                <a:lnTo>
                  <a:pt x="8641637" y="0"/>
                </a:lnTo>
                <a:lnTo>
                  <a:pt x="8641637" y="2621955"/>
                </a:lnTo>
                <a:lnTo>
                  <a:pt x="0" y="26219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9862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0362341" y="2362123"/>
            <a:ext cx="6473404" cy="6759319"/>
          </a:xfrm>
          <a:custGeom>
            <a:avLst/>
            <a:gdLst/>
            <a:ahLst/>
            <a:cxnLst/>
            <a:rect l="l" t="t" r="r" b="b"/>
            <a:pathLst>
              <a:path w="6473404" h="6759319">
                <a:moveTo>
                  <a:pt x="0" y="0"/>
                </a:moveTo>
                <a:lnTo>
                  <a:pt x="6473403" y="0"/>
                </a:lnTo>
                <a:lnTo>
                  <a:pt x="6473403" y="6759319"/>
                </a:lnTo>
                <a:lnTo>
                  <a:pt x="0" y="67593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0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 flipH="1" flipV="1">
            <a:off x="12341" y="-112715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7"/>
                </a:moveTo>
                <a:lnTo>
                  <a:pt x="0" y="2331117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7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16376346" y="7955884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0" y="0"/>
                </a:moveTo>
                <a:lnTo>
                  <a:pt x="1981152" y="0"/>
                </a:lnTo>
                <a:lnTo>
                  <a:pt x="1981152" y="2331116"/>
                </a:lnTo>
                <a:lnTo>
                  <a:pt x="0" y="233111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5243814" y="1910177"/>
            <a:ext cx="6993421" cy="1253616"/>
          </a:xfrm>
          <a:custGeom>
            <a:avLst/>
            <a:gdLst/>
            <a:ahLst/>
            <a:cxnLst/>
            <a:rect l="l" t="t" r="r" b="b"/>
            <a:pathLst>
              <a:path w="6993421" h="1253616">
                <a:moveTo>
                  <a:pt x="0" y="0"/>
                </a:moveTo>
                <a:lnTo>
                  <a:pt x="6993421" y="0"/>
                </a:lnTo>
                <a:lnTo>
                  <a:pt x="6993421" y="1253616"/>
                </a:lnTo>
                <a:lnTo>
                  <a:pt x="0" y="1253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51110" b="-34842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TextBox 9"/>
          <p:cNvSpPr txBox="1"/>
          <p:nvPr/>
        </p:nvSpPr>
        <p:spPr>
          <a:xfrm>
            <a:off x="286724" y="4076095"/>
            <a:ext cx="15562876" cy="6347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2"/>
              </a:lnSpc>
            </a:pPr>
            <a:r>
              <a:rPr lang="en-US" sz="3708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TEAM NAME:</a:t>
            </a:r>
            <a:r>
              <a:rPr lang="en-US" sz="3708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RTL REBELS</a:t>
            </a:r>
            <a:endParaRPr lang="en-US" sz="3708" b="1" dirty="0">
              <a:solidFill>
                <a:srgbClr val="000000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86724" y="5246859"/>
            <a:ext cx="10457476" cy="658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73"/>
              </a:lnSpc>
            </a:pPr>
            <a:r>
              <a:rPr lang="en-US" sz="3838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PROBELEM STATEMENT NO: PS 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86724" y="7122407"/>
            <a:ext cx="14115076" cy="6706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467"/>
              </a:lnSpc>
            </a:pPr>
            <a:r>
              <a:rPr lang="en-US" sz="3905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-25783" y="6290642"/>
            <a:ext cx="17856583" cy="30422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sz="3769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        PROBLEM STATEMENT TITLE: </a:t>
            </a:r>
            <a:r>
              <a:rPr lang="en-GB" sz="4000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HARDWARE AES-128 SYMMETRIC             </a:t>
            </a:r>
          </a:p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GB" sz="4000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                                  BLOCK CIPHER CORE WITH AXI-MM INTERFACE</a:t>
            </a:r>
          </a:p>
          <a:p>
            <a:pPr algn="ctr">
              <a:lnSpc>
                <a:spcPct val="100000"/>
              </a:lnSpc>
              <a:spcBef>
                <a:spcPct val="0"/>
              </a:spcBef>
            </a:pPr>
            <a:endParaRPr lang="en-GB" sz="4000" b="1" dirty="0">
              <a:solidFill>
                <a:srgbClr val="000000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GB" sz="4000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          PS CATEGORY : HARDWARE</a:t>
            </a:r>
          </a:p>
          <a:p>
            <a:pPr algn="ctr">
              <a:lnSpc>
                <a:spcPct val="100000"/>
              </a:lnSpc>
              <a:spcBef>
                <a:spcPct val="0"/>
              </a:spcBef>
            </a:pPr>
            <a:endParaRPr lang="en-US" sz="3769" b="1" dirty="0">
              <a:solidFill>
                <a:srgbClr val="000000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3E5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5783" y="9121442"/>
            <a:ext cx="1165558" cy="1165558"/>
          </a:xfrm>
          <a:custGeom>
            <a:avLst/>
            <a:gdLst/>
            <a:ahLst/>
            <a:cxnLst/>
            <a:rect l="l" t="t" r="r" b="b"/>
            <a:pathLst>
              <a:path w="1165558" h="1165558">
                <a:moveTo>
                  <a:pt x="0" y="0"/>
                </a:moveTo>
                <a:lnTo>
                  <a:pt x="1165558" y="0"/>
                </a:lnTo>
                <a:lnTo>
                  <a:pt x="1165558" y="1165558"/>
                </a:lnTo>
                <a:lnTo>
                  <a:pt x="0" y="11655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6835744" y="146866"/>
            <a:ext cx="1204458" cy="1416140"/>
          </a:xfrm>
          <a:custGeom>
            <a:avLst/>
            <a:gdLst/>
            <a:ahLst/>
            <a:cxnLst/>
            <a:rect l="l" t="t" r="r" b="b"/>
            <a:pathLst>
              <a:path w="1204458" h="1416140">
                <a:moveTo>
                  <a:pt x="0" y="0"/>
                </a:moveTo>
                <a:lnTo>
                  <a:pt x="1204458" y="0"/>
                </a:lnTo>
                <a:lnTo>
                  <a:pt x="1204458" y="1416140"/>
                </a:lnTo>
                <a:lnTo>
                  <a:pt x="0" y="14161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33723" t="-76170" r="-689472" b="-85561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4600883" y="-456041"/>
            <a:ext cx="8641637" cy="2621955"/>
          </a:xfrm>
          <a:custGeom>
            <a:avLst/>
            <a:gdLst/>
            <a:ahLst/>
            <a:cxnLst/>
            <a:rect l="l" t="t" r="r" b="b"/>
            <a:pathLst>
              <a:path w="8641637" h="2621955">
                <a:moveTo>
                  <a:pt x="0" y="0"/>
                </a:moveTo>
                <a:lnTo>
                  <a:pt x="8641637" y="0"/>
                </a:lnTo>
                <a:lnTo>
                  <a:pt x="8641637" y="2621955"/>
                </a:lnTo>
                <a:lnTo>
                  <a:pt x="0" y="26219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9862"/>
            </a:stretch>
          </a:blipFill>
        </p:spPr>
        <p:txBody>
          <a:bodyPr/>
          <a:lstStyle/>
          <a:p>
            <a:endParaRPr lang="en-GB" dirty="0"/>
          </a:p>
        </p:txBody>
      </p:sp>
      <p:sp>
        <p:nvSpPr>
          <p:cNvPr id="5" name="Freeform 5"/>
          <p:cNvSpPr/>
          <p:nvPr/>
        </p:nvSpPr>
        <p:spPr>
          <a:xfrm flipH="1" flipV="1">
            <a:off x="12341" y="-112715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7"/>
                </a:moveTo>
                <a:lnTo>
                  <a:pt x="0" y="2331117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7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TextBox 6"/>
          <p:cNvSpPr txBox="1"/>
          <p:nvPr/>
        </p:nvSpPr>
        <p:spPr>
          <a:xfrm>
            <a:off x="1496495" y="4475004"/>
            <a:ext cx="17011502" cy="18103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9" lvl="1" algn="ctr">
              <a:lnSpc>
                <a:spcPts val="7279"/>
              </a:lnSpc>
            </a:pPr>
            <a:endParaRPr lang="en-US" sz="5199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marL="561339" lvl="1" algn="ctr">
              <a:lnSpc>
                <a:spcPts val="7279"/>
              </a:lnSpc>
            </a:pPr>
            <a:r>
              <a:rPr lang="en-US" sz="5199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341" y="1663942"/>
            <a:ext cx="18285183" cy="20826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2"/>
              </a:lnSpc>
            </a:pPr>
            <a:r>
              <a:rPr lang="en-US" sz="3994" dirty="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Problem Statement</a:t>
            </a:r>
          </a:p>
          <a:p>
            <a:pPr>
              <a:lnSpc>
                <a:spcPts val="5592"/>
              </a:lnSpc>
            </a:pPr>
            <a:endParaRPr lang="en-US" sz="3994" dirty="0">
              <a:solidFill>
                <a:srgbClr val="000000"/>
              </a:solidFill>
              <a:latin typeface="Horizon"/>
              <a:ea typeface="Horizon"/>
              <a:cs typeface="Horizon"/>
              <a:sym typeface="Horizon"/>
            </a:endParaRPr>
          </a:p>
          <a:p>
            <a:pPr marL="457200" indent="-457200" algn="ctr">
              <a:lnSpc>
                <a:spcPts val="5592"/>
              </a:lnSpc>
              <a:buFont typeface="Wingdings" panose="05000000000000000000" pitchFamily="2" charset="2"/>
              <a:buChar char="Ø"/>
            </a:pPr>
            <a:endParaRPr lang="en-US" sz="2800" dirty="0">
              <a:solidFill>
                <a:srgbClr val="000000"/>
              </a:solidFill>
              <a:latin typeface="Horizon"/>
              <a:ea typeface="Horizon"/>
              <a:cs typeface="Times New Roman" panose="02020603050405020304" pitchFamily="18" charset="0"/>
              <a:sym typeface="Horizon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8686800" y="987162"/>
            <a:ext cx="8924116" cy="9318273"/>
          </a:xfrm>
          <a:custGeom>
            <a:avLst/>
            <a:gdLst/>
            <a:ahLst/>
            <a:cxnLst/>
            <a:rect l="l" t="t" r="r" b="b"/>
            <a:pathLst>
              <a:path w="8924116" h="9318273">
                <a:moveTo>
                  <a:pt x="0" y="0"/>
                </a:moveTo>
                <a:lnTo>
                  <a:pt x="8924116" y="0"/>
                </a:lnTo>
                <a:lnTo>
                  <a:pt x="8924116" y="9318273"/>
                </a:lnTo>
                <a:lnTo>
                  <a:pt x="0" y="93182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 dirty="0"/>
          </a:p>
        </p:txBody>
      </p:sp>
      <p:sp>
        <p:nvSpPr>
          <p:cNvPr id="9" name="Freeform 9"/>
          <p:cNvSpPr/>
          <p:nvPr/>
        </p:nvSpPr>
        <p:spPr>
          <a:xfrm rot="-10800000" flipH="1" flipV="1">
            <a:off x="16316373" y="7955884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6"/>
                </a:moveTo>
                <a:lnTo>
                  <a:pt x="0" y="2331116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4E0D0C-FD81-EC44-6FB9-7FA79BFA4010}"/>
              </a:ext>
            </a:extLst>
          </p:cNvPr>
          <p:cNvSpPr txBox="1"/>
          <p:nvPr/>
        </p:nvSpPr>
        <p:spPr>
          <a:xfrm>
            <a:off x="1143924" y="2330398"/>
            <a:ext cx="14669729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>
              <a:latin typeface="Times New Roman MT" panose="020B0604020202020204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Real-World Problems</a:t>
            </a:r>
            <a:r>
              <a:rPr lang="en-GB" sz="2400" dirty="0">
                <a:latin typeface="Times New Roman MT" panose="020B0604020202020204" charset="0"/>
              </a:rPr>
              <a:t>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GB" sz="2400" dirty="0">
                <a:latin typeface="Times New Roman MT" panose="020B0604020202020204" charset="0"/>
              </a:rPr>
              <a:t>Modern FPGA/SoC systems demand high-speed symmetric cryptographic acceleration for data-in-transit and data-at-rest.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GB" sz="2400" dirty="0">
                <a:latin typeface="Times New Roman MT" panose="020B0604020202020204" charset="0"/>
              </a:rPr>
              <a:t>Software encryption throttles CPU throughput and exposes critical keys to side-channel and memory snooping attacks.</a:t>
            </a:r>
          </a:p>
          <a:p>
            <a:endParaRPr lang="en-GB" sz="2400" dirty="0">
              <a:latin typeface="Times New Roman MT" panose="020B0604020202020204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Why It Matters</a:t>
            </a:r>
            <a:r>
              <a:rPr lang="en-GB" sz="2400" dirty="0">
                <a:latin typeface="Times New Roman MT" panose="020B0604020202020204" charset="0"/>
              </a:rPr>
              <a:t>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GB" sz="2400" dirty="0">
                <a:latin typeface="Times New Roman MT" panose="020B0604020202020204" charset="0"/>
              </a:rPr>
              <a:t>Secures high-bandwidth streaming channels (Ethernet, PCIe, DMA) with low-latency hardware cipher engines.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GB" sz="2400" dirty="0">
                <a:latin typeface="Times New Roman MT" panose="020B0604020202020204" charset="0"/>
              </a:rPr>
              <a:t>Essential for </a:t>
            </a:r>
            <a:r>
              <a:rPr lang="en-GB" sz="2400" dirty="0" err="1">
                <a:latin typeface="Times New Roman MT" panose="020B0604020202020204" charset="0"/>
              </a:rPr>
              <a:t>defense</a:t>
            </a:r>
            <a:r>
              <a:rPr lang="en-GB" sz="2400" dirty="0">
                <a:latin typeface="Times New Roman MT" panose="020B0604020202020204" charset="0"/>
              </a:rPr>
              <a:t>, aerospace, financial transaction processing, and secure IoT edge gateways.</a:t>
            </a:r>
          </a:p>
          <a:p>
            <a:endParaRPr lang="en-GB" sz="2400" dirty="0">
              <a:latin typeface="Times New Roman MT" panose="020B0604020202020204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Current Industry &amp; Hardware Challenges</a:t>
            </a:r>
            <a:r>
              <a:rPr lang="en-GB" sz="2400" dirty="0">
                <a:latin typeface="Times New Roman MT" panose="020B0604020202020204" charset="0"/>
              </a:rPr>
              <a:t>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GB" sz="2400" dirty="0">
                <a:latin typeface="Times New Roman MT" panose="020B0604020202020204" charset="0"/>
              </a:rPr>
              <a:t>Area vs. Throughput Bottleneck: Unrolled pipelines consume excessive LUTs (&gt;10,000 LUTs), while simple micro-engines suffer high latency (&gt;40 cycles).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GB" sz="2400" dirty="0">
                <a:latin typeface="Times New Roman MT" panose="020B0604020202020204" charset="0"/>
              </a:rPr>
              <a:t>Memory Constraints: Many implementations rely on pre-computed BRAM tables, violating zero-BRAM rules and risking memory dump attacks.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GB" sz="2400" dirty="0">
                <a:latin typeface="Times New Roman MT" panose="020B0604020202020204" charset="0"/>
              </a:rPr>
              <a:t>System Bus Vulnerabilities: Standard AXI peripherals lack hardware-enforced cryptographic boundaries, risking secret key and intermediate round leakage.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GB" sz="2400" dirty="0">
                <a:latin typeface="Times New Roman MT" panose="020B0604020202020204" charset="0"/>
              </a:rPr>
              <a:t>Protocol Limitations: Most designs only support basic ECB mode without cipher feedback, counter modes, or authentication.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3E5D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8F2F08-6F9D-6532-D763-55DC045A3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63D28BA-CA28-D47F-2954-6B372DFCE5A2}"/>
              </a:ext>
            </a:extLst>
          </p:cNvPr>
          <p:cNvSpPr/>
          <p:nvPr/>
        </p:nvSpPr>
        <p:spPr>
          <a:xfrm>
            <a:off x="4600883" y="-456041"/>
            <a:ext cx="8641637" cy="2621955"/>
          </a:xfrm>
          <a:custGeom>
            <a:avLst/>
            <a:gdLst/>
            <a:ahLst/>
            <a:cxnLst/>
            <a:rect l="l" t="t" r="r" b="b"/>
            <a:pathLst>
              <a:path w="8641637" h="2621955">
                <a:moveTo>
                  <a:pt x="0" y="0"/>
                </a:moveTo>
                <a:lnTo>
                  <a:pt x="8641637" y="0"/>
                </a:lnTo>
                <a:lnTo>
                  <a:pt x="8641637" y="2621955"/>
                </a:lnTo>
                <a:lnTo>
                  <a:pt x="0" y="26219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9862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1B565D2-4E74-F42A-CA51-2208EA3FFE82}"/>
              </a:ext>
            </a:extLst>
          </p:cNvPr>
          <p:cNvSpPr/>
          <p:nvPr/>
        </p:nvSpPr>
        <p:spPr>
          <a:xfrm>
            <a:off x="16835744" y="146866"/>
            <a:ext cx="1204458" cy="1416140"/>
          </a:xfrm>
          <a:custGeom>
            <a:avLst/>
            <a:gdLst/>
            <a:ahLst/>
            <a:cxnLst/>
            <a:rect l="l" t="t" r="r" b="b"/>
            <a:pathLst>
              <a:path w="1204458" h="1416140">
                <a:moveTo>
                  <a:pt x="0" y="0"/>
                </a:moveTo>
                <a:lnTo>
                  <a:pt x="1204458" y="0"/>
                </a:lnTo>
                <a:lnTo>
                  <a:pt x="1204458" y="1416140"/>
                </a:lnTo>
                <a:lnTo>
                  <a:pt x="0" y="14161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33723" t="-76170" r="-689472" b="-85561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9D888749-C6E8-6418-9663-B3A73ABF6E28}"/>
              </a:ext>
            </a:extLst>
          </p:cNvPr>
          <p:cNvSpPr/>
          <p:nvPr/>
        </p:nvSpPr>
        <p:spPr>
          <a:xfrm>
            <a:off x="-25783" y="9121442"/>
            <a:ext cx="1165558" cy="1165558"/>
          </a:xfrm>
          <a:custGeom>
            <a:avLst/>
            <a:gdLst/>
            <a:ahLst/>
            <a:cxnLst/>
            <a:rect l="l" t="t" r="r" b="b"/>
            <a:pathLst>
              <a:path w="1165558" h="1165558">
                <a:moveTo>
                  <a:pt x="0" y="0"/>
                </a:moveTo>
                <a:lnTo>
                  <a:pt x="1165558" y="0"/>
                </a:lnTo>
                <a:lnTo>
                  <a:pt x="1165558" y="1165558"/>
                </a:lnTo>
                <a:lnTo>
                  <a:pt x="0" y="11655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FE8E006-9D9A-6B04-1998-09C526D1C80A}"/>
              </a:ext>
            </a:extLst>
          </p:cNvPr>
          <p:cNvSpPr/>
          <p:nvPr/>
        </p:nvSpPr>
        <p:spPr>
          <a:xfrm flipH="1" flipV="1">
            <a:off x="12341" y="-112715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7"/>
                </a:moveTo>
                <a:lnTo>
                  <a:pt x="0" y="2331117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7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4E3B662-26E5-4B8C-8F52-5870DA39C6D9}"/>
              </a:ext>
            </a:extLst>
          </p:cNvPr>
          <p:cNvSpPr/>
          <p:nvPr/>
        </p:nvSpPr>
        <p:spPr>
          <a:xfrm rot="-10800000" flipH="1" flipV="1">
            <a:off x="16306848" y="7955884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6"/>
                </a:moveTo>
                <a:lnTo>
                  <a:pt x="0" y="2331116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042B9B05-9FCE-9846-96CD-AACDE8BBB080}"/>
              </a:ext>
            </a:extLst>
          </p:cNvPr>
          <p:cNvSpPr/>
          <p:nvPr/>
        </p:nvSpPr>
        <p:spPr>
          <a:xfrm>
            <a:off x="8780462" y="968727"/>
            <a:ext cx="8924116" cy="9318273"/>
          </a:xfrm>
          <a:custGeom>
            <a:avLst/>
            <a:gdLst/>
            <a:ahLst/>
            <a:cxnLst/>
            <a:rect l="l" t="t" r="r" b="b"/>
            <a:pathLst>
              <a:path w="8924116" h="9318273">
                <a:moveTo>
                  <a:pt x="0" y="0"/>
                </a:moveTo>
                <a:lnTo>
                  <a:pt x="8924116" y="0"/>
                </a:lnTo>
                <a:lnTo>
                  <a:pt x="8924116" y="9318273"/>
                </a:lnTo>
                <a:lnTo>
                  <a:pt x="0" y="93182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14912D-3D65-A692-78E1-B687D450C1A0}"/>
              </a:ext>
            </a:extLst>
          </p:cNvPr>
          <p:cNvSpPr txBox="1"/>
          <p:nvPr/>
        </p:nvSpPr>
        <p:spPr>
          <a:xfrm>
            <a:off x="762000" y="2191724"/>
            <a:ext cx="16383000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Horizon" panose="020B0604020202020204" charset="0"/>
              </a:rPr>
              <a:t> </a:t>
            </a:r>
            <a:r>
              <a:rPr lang="en-GB" sz="2800" dirty="0">
                <a:latin typeface="Horizon" panose="020B0604020202020204" charset="0"/>
              </a:rPr>
              <a:t>Our Solution</a:t>
            </a:r>
          </a:p>
          <a:p>
            <a:endParaRPr lang="en-GB" sz="2800" dirty="0"/>
          </a:p>
          <a:p>
            <a:r>
              <a:rPr lang="en-GB" sz="2800" b="1" dirty="0">
                <a:latin typeface="Times New Roman MT" panose="020B0604020202020204" charset="0"/>
              </a:rPr>
              <a:t>Project Name</a:t>
            </a:r>
            <a:r>
              <a:rPr lang="en-GB" sz="2800" dirty="0"/>
              <a:t>: Secure &amp; Resource-Optimized AES-128 FPGA Accelerator with 6-Mode Operating Subsystem.</a:t>
            </a:r>
          </a:p>
          <a:p>
            <a:endParaRPr lang="en-GB" sz="2800" dirty="0"/>
          </a:p>
          <a:p>
            <a:r>
              <a:rPr lang="en-GB" sz="2800" b="1" dirty="0">
                <a:latin typeface="Times New Roman MT" panose="020B0604020202020204" charset="0"/>
              </a:rPr>
              <a:t>One-Line Solution</a:t>
            </a:r>
            <a:r>
              <a:rPr lang="en-GB" sz="2800" dirty="0"/>
              <a:t>: A high-throughput (1.28 Gbps), cryptographically isolated AES-128 accelerator featuring a Full AXI4-MM burst interface, dynamic pipeline folding, on-the-fly round key generation, and a 6-mode NIST operating engine on </a:t>
            </a:r>
            <a:r>
              <a:rPr lang="en-GB" sz="2800" dirty="0" err="1"/>
              <a:t>Digilent</a:t>
            </a:r>
            <a:r>
              <a:rPr lang="en-GB" sz="2800" dirty="0"/>
              <a:t> 7-Series FPGA.</a:t>
            </a:r>
          </a:p>
          <a:p>
            <a:endParaRPr lang="en-GB" sz="2800" dirty="0"/>
          </a:p>
          <a:p>
            <a:r>
              <a:rPr lang="en-GB" sz="2800" b="1" dirty="0">
                <a:latin typeface="Times New Roman MT" panose="020B0604020202020204" charset="0"/>
              </a:rPr>
              <a:t>How It Solves the Problem</a:t>
            </a:r>
            <a:r>
              <a:rPr lang="en-GB" sz="2800" dirty="0"/>
              <a:t>: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800" dirty="0"/>
              <a:t>Dynamic Pipeline Folding &amp; Resource-Sharing: Single-round folded </a:t>
            </a:r>
            <a:r>
              <a:rPr lang="en-GB" sz="2800" dirty="0" err="1"/>
              <a:t>datapath</a:t>
            </a:r>
            <a:r>
              <a:rPr lang="en-GB" sz="2800" dirty="0"/>
              <a:t> with shared forward/inverse S-Box ROMs achieving 1 block / 10 cycles with low LUT utilization and 0 BRAM / 0 DSP.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800" dirty="0"/>
              <a:t>Full AXI4-MM System Interface: Full memory-mapped slave supporting single and 4-beat burst transfers (INCR), ID reflection, and backpressure handshakes.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800" dirty="0"/>
              <a:t>Cryptographic Isolation Boundary: Write-only key registers, gated outputs during computation, and strict isolation preventing bus probing or state leakage.</a:t>
            </a:r>
          </a:p>
        </p:txBody>
      </p:sp>
    </p:spTree>
    <p:extLst>
      <p:ext uri="{BB962C8B-B14F-4D97-AF65-F5344CB8AC3E}">
        <p14:creationId xmlns:p14="http://schemas.microsoft.com/office/powerpoint/2010/main" val="1491258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3E5D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97F162-BC38-3A50-37F0-12BE21934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1D6D588-38D4-29F6-AEA7-5887ED720306}"/>
              </a:ext>
            </a:extLst>
          </p:cNvPr>
          <p:cNvSpPr txBox="1"/>
          <p:nvPr/>
        </p:nvSpPr>
        <p:spPr>
          <a:xfrm>
            <a:off x="5218565" y="3601951"/>
            <a:ext cx="1739141" cy="1042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09"/>
              </a:lnSpc>
            </a:pPr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D6A64F7A-7DE7-709C-0B18-75D5EA7A051B}"/>
              </a:ext>
            </a:extLst>
          </p:cNvPr>
          <p:cNvSpPr txBox="1"/>
          <p:nvPr/>
        </p:nvSpPr>
        <p:spPr>
          <a:xfrm>
            <a:off x="6188546" y="2213504"/>
            <a:ext cx="10647198" cy="57163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909"/>
              </a:lnSpc>
            </a:pPr>
            <a:endParaRPr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2CF4EFC-D350-0F52-CCD1-FF17D80933FB}"/>
              </a:ext>
            </a:extLst>
          </p:cNvPr>
          <p:cNvSpPr/>
          <p:nvPr/>
        </p:nvSpPr>
        <p:spPr>
          <a:xfrm>
            <a:off x="4600884" y="-456041"/>
            <a:ext cx="8468552" cy="2621955"/>
          </a:xfrm>
          <a:custGeom>
            <a:avLst/>
            <a:gdLst/>
            <a:ahLst/>
            <a:cxnLst/>
            <a:rect l="l" t="t" r="r" b="b"/>
            <a:pathLst>
              <a:path w="8641637" h="2621955">
                <a:moveTo>
                  <a:pt x="0" y="0"/>
                </a:moveTo>
                <a:lnTo>
                  <a:pt x="8641637" y="0"/>
                </a:lnTo>
                <a:lnTo>
                  <a:pt x="8641637" y="2621955"/>
                </a:lnTo>
                <a:lnTo>
                  <a:pt x="0" y="26219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9862"/>
            </a:stretch>
          </a:blipFill>
        </p:spPr>
        <p:txBody>
          <a:bodyPr/>
          <a:lstStyle/>
          <a:p>
            <a:endParaRPr lang="en-GB" dirty="0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4F98411-0A51-CE76-0D5B-9777AA3B26D7}"/>
              </a:ext>
            </a:extLst>
          </p:cNvPr>
          <p:cNvSpPr/>
          <p:nvPr/>
        </p:nvSpPr>
        <p:spPr>
          <a:xfrm>
            <a:off x="-25783" y="9121442"/>
            <a:ext cx="1165558" cy="1165558"/>
          </a:xfrm>
          <a:custGeom>
            <a:avLst/>
            <a:gdLst/>
            <a:ahLst/>
            <a:cxnLst/>
            <a:rect l="l" t="t" r="r" b="b"/>
            <a:pathLst>
              <a:path w="1165558" h="1165558">
                <a:moveTo>
                  <a:pt x="0" y="0"/>
                </a:moveTo>
                <a:lnTo>
                  <a:pt x="1165558" y="0"/>
                </a:lnTo>
                <a:lnTo>
                  <a:pt x="1165558" y="1165558"/>
                </a:lnTo>
                <a:lnTo>
                  <a:pt x="0" y="11655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78E44C0A-37B1-58EF-FA14-41B01273E612}"/>
              </a:ext>
            </a:extLst>
          </p:cNvPr>
          <p:cNvSpPr/>
          <p:nvPr/>
        </p:nvSpPr>
        <p:spPr>
          <a:xfrm>
            <a:off x="8780462" y="968727"/>
            <a:ext cx="8924116" cy="9318273"/>
          </a:xfrm>
          <a:custGeom>
            <a:avLst/>
            <a:gdLst/>
            <a:ahLst/>
            <a:cxnLst/>
            <a:rect l="l" t="t" r="r" b="b"/>
            <a:pathLst>
              <a:path w="8924116" h="9318273">
                <a:moveTo>
                  <a:pt x="0" y="0"/>
                </a:moveTo>
                <a:lnTo>
                  <a:pt x="8924116" y="0"/>
                </a:lnTo>
                <a:lnTo>
                  <a:pt x="8924116" y="9318273"/>
                </a:lnTo>
                <a:lnTo>
                  <a:pt x="0" y="93182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07AAD158-FA15-8B97-8332-A4EAA5BEB66E}"/>
              </a:ext>
            </a:extLst>
          </p:cNvPr>
          <p:cNvSpPr/>
          <p:nvPr/>
        </p:nvSpPr>
        <p:spPr>
          <a:xfrm rot="-10800000" flipH="1" flipV="1">
            <a:off x="16306848" y="7955884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6"/>
                </a:moveTo>
                <a:lnTo>
                  <a:pt x="0" y="2331116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A33C2F7D-FE8B-9CB6-2B81-D4C7AAB0BE7D}"/>
              </a:ext>
            </a:extLst>
          </p:cNvPr>
          <p:cNvSpPr/>
          <p:nvPr/>
        </p:nvSpPr>
        <p:spPr>
          <a:xfrm flipH="1" flipV="1">
            <a:off x="12341" y="-112715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7"/>
                </a:moveTo>
                <a:lnTo>
                  <a:pt x="0" y="2331117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7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5EEF3640-6D82-0360-FA6E-B60B0F17C0FE}"/>
              </a:ext>
            </a:extLst>
          </p:cNvPr>
          <p:cNvSpPr/>
          <p:nvPr/>
        </p:nvSpPr>
        <p:spPr>
          <a:xfrm>
            <a:off x="16835744" y="146866"/>
            <a:ext cx="1204458" cy="1416140"/>
          </a:xfrm>
          <a:custGeom>
            <a:avLst/>
            <a:gdLst/>
            <a:ahLst/>
            <a:cxnLst/>
            <a:rect l="l" t="t" r="r" b="b"/>
            <a:pathLst>
              <a:path w="1204458" h="1416140">
                <a:moveTo>
                  <a:pt x="0" y="0"/>
                </a:moveTo>
                <a:lnTo>
                  <a:pt x="1204458" y="0"/>
                </a:lnTo>
                <a:lnTo>
                  <a:pt x="1204458" y="1416140"/>
                </a:lnTo>
                <a:lnTo>
                  <a:pt x="0" y="14161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33723" t="-76170" r="-689472" b="-85561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72BFD8C-7D99-51A9-A666-89C675C17E2A}"/>
              </a:ext>
            </a:extLst>
          </p:cNvPr>
          <p:cNvSpPr txBox="1"/>
          <p:nvPr/>
        </p:nvSpPr>
        <p:spPr>
          <a:xfrm>
            <a:off x="393938" y="4187014"/>
            <a:ext cx="5244862" cy="328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3200" dirty="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Architectural</a:t>
            </a:r>
          </a:p>
          <a:p>
            <a:pPr algn="l">
              <a:lnSpc>
                <a:spcPts val="5152"/>
              </a:lnSpc>
            </a:pPr>
            <a:r>
              <a:rPr lang="en-US" sz="3200" dirty="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 Block diagram</a:t>
            </a:r>
          </a:p>
          <a:p>
            <a:pPr algn="l">
              <a:lnSpc>
                <a:spcPts val="5152"/>
              </a:lnSpc>
            </a:pPr>
            <a:endParaRPr lang="en-US" sz="3200" dirty="0">
              <a:solidFill>
                <a:srgbClr val="000000"/>
              </a:solidFill>
              <a:latin typeface="Horizon"/>
              <a:ea typeface="Horizon"/>
              <a:cs typeface="Horizon"/>
              <a:sym typeface="Horizon"/>
            </a:endParaRPr>
          </a:p>
          <a:p>
            <a:pPr marL="397273" lvl="1" algn="l">
              <a:lnSpc>
                <a:spcPts val="5152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C228938-DC77-B1B3-7EA9-217AD72ECB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9800" y="1714500"/>
            <a:ext cx="12515859" cy="857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3E5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218565" y="3601951"/>
            <a:ext cx="5906635" cy="10429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909"/>
              </a:lnSpc>
            </a:pPr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1330294" y="3601951"/>
            <a:ext cx="1739141" cy="1042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09"/>
              </a:lnSpc>
            </a:pPr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4600883" y="-456041"/>
            <a:ext cx="8641637" cy="2621955"/>
          </a:xfrm>
          <a:custGeom>
            <a:avLst/>
            <a:gdLst/>
            <a:ahLst/>
            <a:cxnLst/>
            <a:rect l="l" t="t" r="r" b="b"/>
            <a:pathLst>
              <a:path w="8641637" h="2621955">
                <a:moveTo>
                  <a:pt x="0" y="0"/>
                </a:moveTo>
                <a:lnTo>
                  <a:pt x="8641637" y="0"/>
                </a:lnTo>
                <a:lnTo>
                  <a:pt x="8641637" y="2621955"/>
                </a:lnTo>
                <a:lnTo>
                  <a:pt x="0" y="26219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9862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-25783" y="9121442"/>
            <a:ext cx="1165558" cy="1165558"/>
          </a:xfrm>
          <a:custGeom>
            <a:avLst/>
            <a:gdLst/>
            <a:ahLst/>
            <a:cxnLst/>
            <a:rect l="l" t="t" r="r" b="b"/>
            <a:pathLst>
              <a:path w="1165558" h="1165558">
                <a:moveTo>
                  <a:pt x="0" y="0"/>
                </a:moveTo>
                <a:lnTo>
                  <a:pt x="1165558" y="0"/>
                </a:lnTo>
                <a:lnTo>
                  <a:pt x="1165558" y="1165558"/>
                </a:lnTo>
                <a:lnTo>
                  <a:pt x="0" y="11655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8780462" y="968727"/>
            <a:ext cx="8924116" cy="9318273"/>
          </a:xfrm>
          <a:custGeom>
            <a:avLst/>
            <a:gdLst/>
            <a:ahLst/>
            <a:cxnLst/>
            <a:rect l="l" t="t" r="r" b="b"/>
            <a:pathLst>
              <a:path w="8924116" h="9318273">
                <a:moveTo>
                  <a:pt x="0" y="0"/>
                </a:moveTo>
                <a:lnTo>
                  <a:pt x="8924116" y="0"/>
                </a:lnTo>
                <a:lnTo>
                  <a:pt x="8924116" y="9318273"/>
                </a:lnTo>
                <a:lnTo>
                  <a:pt x="0" y="93182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 rot="-10800000" flipH="1" flipV="1">
            <a:off x="16306848" y="7955884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6"/>
                </a:moveTo>
                <a:lnTo>
                  <a:pt x="0" y="2331116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 flipH="1" flipV="1">
            <a:off x="12341" y="-112715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7"/>
                </a:moveTo>
                <a:lnTo>
                  <a:pt x="0" y="2331117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7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6835744" y="146866"/>
            <a:ext cx="1204458" cy="1416140"/>
          </a:xfrm>
          <a:custGeom>
            <a:avLst/>
            <a:gdLst/>
            <a:ahLst/>
            <a:cxnLst/>
            <a:rect l="l" t="t" r="r" b="b"/>
            <a:pathLst>
              <a:path w="1204458" h="1416140">
                <a:moveTo>
                  <a:pt x="0" y="0"/>
                </a:moveTo>
                <a:lnTo>
                  <a:pt x="1204458" y="0"/>
                </a:lnTo>
                <a:lnTo>
                  <a:pt x="1204458" y="1416140"/>
                </a:lnTo>
                <a:lnTo>
                  <a:pt x="0" y="14161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33723" t="-76170" r="-689472" b="-85561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TextBox 10"/>
          <p:cNvSpPr txBox="1"/>
          <p:nvPr/>
        </p:nvSpPr>
        <p:spPr>
          <a:xfrm>
            <a:off x="381000" y="1563006"/>
            <a:ext cx="18433195" cy="1892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01"/>
              </a:lnSpc>
            </a:pPr>
            <a:endParaRPr lang="en-US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algn="ctr">
              <a:lnSpc>
                <a:spcPts val="5001"/>
              </a:lnSpc>
            </a:pPr>
            <a:endParaRPr lang="en-US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algn="ctr">
              <a:lnSpc>
                <a:spcPts val="5001"/>
              </a:lnSpc>
            </a:pPr>
            <a:endParaRPr lang="en-US" sz="3572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A5C933-88E3-9968-6297-E6B43D7AA12B}"/>
              </a:ext>
            </a:extLst>
          </p:cNvPr>
          <p:cNvSpPr txBox="1"/>
          <p:nvPr/>
        </p:nvSpPr>
        <p:spPr>
          <a:xfrm>
            <a:off x="1346714" y="1920187"/>
            <a:ext cx="15471824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latin typeface="Horizon" panose="020B0604020202020204" charset="0"/>
              </a:rPr>
              <a:t>Purpose of Blocks</a:t>
            </a:r>
          </a:p>
          <a:p>
            <a:endParaRPr lang="en-GB" sz="2400" b="1" dirty="0">
              <a:latin typeface="Times New Roman MT" panose="020B0604020202020204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Full AXI4-MM Interface (</a:t>
            </a:r>
            <a:r>
              <a:rPr lang="en-GB" sz="2400" b="1" dirty="0" err="1">
                <a:latin typeface="Times New Roman MT" panose="020B0604020202020204" charset="0"/>
              </a:rPr>
              <a:t>axi_mm_slave.v</a:t>
            </a:r>
            <a:r>
              <a:rPr lang="en-GB" sz="2400" b="1" dirty="0">
                <a:latin typeface="Times New Roman MT" panose="020B0604020202020204" charset="0"/>
              </a:rPr>
              <a:t>): </a:t>
            </a:r>
            <a:r>
              <a:rPr lang="en-GB" sz="2400" dirty="0">
                <a:latin typeface="Times New Roman MT" panose="020B0604020202020204" charset="0"/>
              </a:rPr>
              <a:t>Handles single/burst read/write transactions (INCR/FIXED), transaction IDs, and bus handshaking.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Cryptographic Isolation Boundary (</a:t>
            </a:r>
            <a:r>
              <a:rPr lang="en-GB" sz="2400" b="1" dirty="0" err="1">
                <a:latin typeface="Times New Roman MT" panose="020B0604020202020204" charset="0"/>
              </a:rPr>
              <a:t>aes_registers.v</a:t>
            </a:r>
            <a:r>
              <a:rPr lang="en-GB" sz="2400" b="1" dirty="0">
                <a:latin typeface="Times New Roman MT" panose="020B0604020202020204" charset="0"/>
              </a:rPr>
              <a:t>): </a:t>
            </a:r>
            <a:r>
              <a:rPr lang="en-GB" sz="2400" dirty="0">
                <a:latin typeface="Times New Roman MT" panose="020B0604020202020204" charset="0"/>
              </a:rPr>
              <a:t>Provides write-only key security (reads return 0x0000_0000) and masks ciphertext output until DONE == 1.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6-Mode &amp; Padding Subsystem (</a:t>
            </a:r>
            <a:r>
              <a:rPr lang="en-GB" sz="2400" b="1" dirty="0" err="1">
                <a:latin typeface="Times New Roman MT" panose="020B0604020202020204" charset="0"/>
              </a:rPr>
              <a:t>aes_mode_engine.v</a:t>
            </a:r>
            <a:r>
              <a:rPr lang="en-GB" sz="2400" b="1" dirty="0">
                <a:latin typeface="Times New Roman MT" panose="020B0604020202020204" charset="0"/>
              </a:rPr>
              <a:t> + </a:t>
            </a:r>
            <a:r>
              <a:rPr lang="en-GB" sz="2400" b="1" dirty="0" err="1">
                <a:latin typeface="Times New Roman MT" panose="020B0604020202020204" charset="0"/>
              </a:rPr>
              <a:t>ghash_core.v</a:t>
            </a:r>
            <a:r>
              <a:rPr lang="en-GB" sz="2400" b="1" dirty="0">
                <a:latin typeface="Times New Roman MT" panose="020B0604020202020204" charset="0"/>
              </a:rPr>
              <a:t>): </a:t>
            </a:r>
            <a:r>
              <a:rPr lang="en-GB" sz="2400" dirty="0">
                <a:latin typeface="Times New Roman MT" panose="020B0604020202020204" charset="0"/>
              </a:rPr>
              <a:t>Coordinates chaining (CBC/CFB/OFB), counter increments (CTR/GCM), GHASH authentication tag generation, and PKCS#5 padding.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Folded Datapath Engine (</a:t>
            </a:r>
            <a:r>
              <a:rPr lang="en-GB" sz="2400" b="1" dirty="0" err="1">
                <a:latin typeface="Times New Roman MT" panose="020B0604020202020204" charset="0"/>
              </a:rPr>
              <a:t>aes_core.v</a:t>
            </a:r>
            <a:r>
              <a:rPr lang="en-GB" sz="2400" b="1" dirty="0">
                <a:latin typeface="Times New Roman MT" panose="020B0604020202020204" charset="0"/>
              </a:rPr>
              <a:t>): </a:t>
            </a:r>
            <a:r>
              <a:rPr lang="en-GB" sz="2400" dirty="0">
                <a:latin typeface="Times New Roman MT" panose="020B0604020202020204" charset="0"/>
              </a:rPr>
              <a:t>Executes unified forward/inverse </a:t>
            </a:r>
            <a:r>
              <a:rPr lang="en-GB" sz="2400" dirty="0" err="1">
                <a:latin typeface="Times New Roman MT" panose="020B0604020202020204" charset="0"/>
              </a:rPr>
              <a:t>SubBytes</a:t>
            </a:r>
            <a:r>
              <a:rPr lang="en-GB" sz="2400" dirty="0">
                <a:latin typeface="Times New Roman MT" panose="020B0604020202020204" charset="0"/>
              </a:rPr>
              <a:t>, </a:t>
            </a:r>
            <a:r>
              <a:rPr lang="en-GB" sz="2400" dirty="0" err="1">
                <a:latin typeface="Times New Roman MT" panose="020B0604020202020204" charset="0"/>
              </a:rPr>
              <a:t>ShiftRows</a:t>
            </a:r>
            <a:r>
              <a:rPr lang="en-GB" sz="2400" dirty="0">
                <a:latin typeface="Times New Roman MT" panose="020B0604020202020204" charset="0"/>
              </a:rPr>
              <a:t>, </a:t>
            </a:r>
            <a:r>
              <a:rPr lang="en-GB" sz="2400" dirty="0" err="1">
                <a:latin typeface="Times New Roman MT" panose="020B0604020202020204" charset="0"/>
              </a:rPr>
              <a:t>MixColumns</a:t>
            </a:r>
            <a:r>
              <a:rPr lang="en-GB" sz="2400" dirty="0">
                <a:latin typeface="Times New Roman MT" panose="020B0604020202020204" charset="0"/>
              </a:rPr>
              <a:t>, and </a:t>
            </a:r>
            <a:r>
              <a:rPr lang="en-GB" sz="2400" dirty="0" err="1">
                <a:latin typeface="Times New Roman MT" panose="020B0604020202020204" charset="0"/>
              </a:rPr>
              <a:t>AddRoundKey</a:t>
            </a:r>
            <a:r>
              <a:rPr lang="en-GB" sz="2400" dirty="0">
                <a:latin typeface="Times New Roman MT" panose="020B0604020202020204" charset="0"/>
              </a:rPr>
              <a:t> iteratively in 10 clock cycles.</a:t>
            </a:r>
            <a:endParaRPr lang="en-GB" sz="2400" b="1" dirty="0">
              <a:latin typeface="Times New Roman MT" panose="020B0604020202020204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dirty="0">
                <a:latin typeface="Times New Roman MT" panose="020B0604020202020204" charset="0"/>
              </a:rPr>
              <a:t> </a:t>
            </a:r>
            <a:r>
              <a:rPr lang="en-GB" sz="2400" b="1" dirty="0">
                <a:latin typeface="Times New Roman MT" panose="020B0604020202020204" charset="0"/>
              </a:rPr>
              <a:t>On-the-Fly Key Generator: </a:t>
            </a:r>
            <a:r>
              <a:rPr lang="en-GB" sz="2400" dirty="0">
                <a:latin typeface="Times New Roman MT" panose="020B0604020202020204" charset="0"/>
              </a:rPr>
              <a:t>Generates the AES round keys K₁ to K₁₀ when needed, without storing them in BRAM, which saves hardware resources.</a:t>
            </a:r>
          </a:p>
          <a:p>
            <a:endParaRPr lang="en-GB" sz="2400" dirty="0">
              <a:latin typeface="Times New Roman MT" panose="020B0604020202020204" charset="0"/>
            </a:endParaRPr>
          </a:p>
          <a:p>
            <a:r>
              <a:rPr lang="en-GB" sz="2400" dirty="0">
                <a:latin typeface="Horizon" panose="020B0604020202020204" charset="0"/>
              </a:rPr>
              <a:t>Architecture Trade-Offs</a:t>
            </a:r>
          </a:p>
          <a:p>
            <a:endParaRPr lang="en-GB" sz="2400" dirty="0">
              <a:latin typeface="Times New Roman MT" panose="020B0604020202020204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Pipeline Folding vs. Full Unrolling</a:t>
            </a:r>
            <a:r>
              <a:rPr lang="en-GB" sz="2400" dirty="0">
                <a:latin typeface="Times New Roman MT" panose="020B0604020202020204" charset="0"/>
              </a:rPr>
              <a:t>: Achieves 1.28 Gbps throughput while reducing area by &gt;75% compared to unrolled 10-stage pipelines.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Full AXI4 Burst vs. AXI-Lite: </a:t>
            </a:r>
            <a:r>
              <a:rPr lang="en-GB" sz="2400" dirty="0">
                <a:latin typeface="Times New Roman MT" panose="020B0604020202020204" charset="0"/>
              </a:rPr>
              <a:t>Enables 4-word burst transfers, eliminating bus turnaround overhead and saturating </a:t>
            </a:r>
            <a:r>
              <a:rPr lang="en-GB" sz="2400" dirty="0" err="1">
                <a:latin typeface="Times New Roman MT" panose="020B0604020202020204" charset="0"/>
              </a:rPr>
              <a:t>datapath</a:t>
            </a:r>
            <a:r>
              <a:rPr lang="en-GB" sz="2400" dirty="0">
                <a:latin typeface="Times New Roman MT" panose="020B0604020202020204" charset="0"/>
              </a:rPr>
              <a:t> throughput.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b="1" dirty="0">
                <a:latin typeface="Times New Roman MT" panose="020B0604020202020204" charset="0"/>
              </a:rPr>
              <a:t>Shared S-Box Architecture: </a:t>
            </a:r>
            <a:r>
              <a:rPr lang="en-GB" sz="2400" dirty="0">
                <a:latin typeface="Times New Roman MT" panose="020B0604020202020204" charset="0"/>
              </a:rPr>
              <a:t>Unifies forward and inverse S-boxes into shared distributed ROMs with MuxF7/F8 cascades to minimize slice footprint</a:t>
            </a:r>
            <a:r>
              <a:rPr lang="en-GB" dirty="0">
                <a:latin typeface="Times New Roman MT" panose="020B0604020202020204" charset="0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3E5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218565" y="3601951"/>
            <a:ext cx="1739141" cy="1042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09"/>
              </a:lnSpc>
            </a:pPr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1330294" y="3601951"/>
            <a:ext cx="1739141" cy="1042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09"/>
              </a:lnSpc>
            </a:pPr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4620548" y="-521582"/>
            <a:ext cx="8641637" cy="2621955"/>
          </a:xfrm>
          <a:custGeom>
            <a:avLst/>
            <a:gdLst/>
            <a:ahLst/>
            <a:cxnLst/>
            <a:rect l="l" t="t" r="r" b="b"/>
            <a:pathLst>
              <a:path w="8641637" h="2621955">
                <a:moveTo>
                  <a:pt x="0" y="0"/>
                </a:moveTo>
                <a:lnTo>
                  <a:pt x="8641637" y="0"/>
                </a:lnTo>
                <a:lnTo>
                  <a:pt x="8641637" y="2621955"/>
                </a:lnTo>
                <a:lnTo>
                  <a:pt x="0" y="26219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9862"/>
            </a:stretch>
          </a:blipFill>
        </p:spPr>
        <p:txBody>
          <a:bodyPr/>
          <a:lstStyle/>
          <a:p>
            <a:endParaRPr lang="en-GB" dirty="0"/>
          </a:p>
        </p:txBody>
      </p:sp>
      <p:sp>
        <p:nvSpPr>
          <p:cNvPr id="5" name="Freeform 5"/>
          <p:cNvSpPr/>
          <p:nvPr/>
        </p:nvSpPr>
        <p:spPr>
          <a:xfrm>
            <a:off x="-25783" y="9121442"/>
            <a:ext cx="1165558" cy="1165558"/>
          </a:xfrm>
          <a:custGeom>
            <a:avLst/>
            <a:gdLst/>
            <a:ahLst/>
            <a:cxnLst/>
            <a:rect l="l" t="t" r="r" b="b"/>
            <a:pathLst>
              <a:path w="1165558" h="1165558">
                <a:moveTo>
                  <a:pt x="0" y="0"/>
                </a:moveTo>
                <a:lnTo>
                  <a:pt x="1165558" y="0"/>
                </a:lnTo>
                <a:lnTo>
                  <a:pt x="1165558" y="1165558"/>
                </a:lnTo>
                <a:lnTo>
                  <a:pt x="0" y="11655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8780462" y="968727"/>
            <a:ext cx="8924116" cy="9318273"/>
          </a:xfrm>
          <a:custGeom>
            <a:avLst/>
            <a:gdLst/>
            <a:ahLst/>
            <a:cxnLst/>
            <a:rect l="l" t="t" r="r" b="b"/>
            <a:pathLst>
              <a:path w="8924116" h="9318273">
                <a:moveTo>
                  <a:pt x="0" y="0"/>
                </a:moveTo>
                <a:lnTo>
                  <a:pt x="8924116" y="0"/>
                </a:lnTo>
                <a:lnTo>
                  <a:pt x="8924116" y="9318273"/>
                </a:lnTo>
                <a:lnTo>
                  <a:pt x="0" y="93182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 rot="-10800000" flipH="1" flipV="1">
            <a:off x="16306848" y="7955884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6"/>
                </a:moveTo>
                <a:lnTo>
                  <a:pt x="0" y="2331116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 flipH="1" flipV="1">
            <a:off x="12341" y="-112715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7"/>
                </a:moveTo>
                <a:lnTo>
                  <a:pt x="0" y="2331117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7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6835744" y="146866"/>
            <a:ext cx="1204458" cy="1416140"/>
          </a:xfrm>
          <a:custGeom>
            <a:avLst/>
            <a:gdLst/>
            <a:ahLst/>
            <a:cxnLst/>
            <a:rect l="l" t="t" r="r" b="b"/>
            <a:pathLst>
              <a:path w="1204458" h="1416140">
                <a:moveTo>
                  <a:pt x="0" y="0"/>
                </a:moveTo>
                <a:lnTo>
                  <a:pt x="1204458" y="0"/>
                </a:lnTo>
                <a:lnTo>
                  <a:pt x="1204458" y="1416140"/>
                </a:lnTo>
                <a:lnTo>
                  <a:pt x="0" y="14161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33723" t="-76170" r="-689472" b="-85561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90F034-3029-D1A9-C2D2-A770A9A40591}"/>
              </a:ext>
            </a:extLst>
          </p:cNvPr>
          <p:cNvSpPr txBox="1"/>
          <p:nvPr/>
        </p:nvSpPr>
        <p:spPr>
          <a:xfrm>
            <a:off x="556996" y="2409735"/>
            <a:ext cx="18135599" cy="6647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</a:t>
            </a:r>
            <a:r>
              <a:rPr lang="en-GB" dirty="0">
                <a:latin typeface="Horizon" panose="020B0604020202020204" charset="0"/>
              </a:rPr>
              <a:t>Outputs and </a:t>
            </a:r>
            <a:r>
              <a:rPr lang="en-GB" dirty="0" err="1">
                <a:latin typeface="Horizon" panose="020B0604020202020204" charset="0"/>
              </a:rPr>
              <a:t>ResultS</a:t>
            </a:r>
            <a:endParaRPr lang="en-GB" dirty="0"/>
          </a:p>
          <a:p>
            <a:endParaRPr lang="en-GB" sz="2400" dirty="0">
              <a:latin typeface="Times New Roman MT" panose="020B0604020202020204" charset="0"/>
            </a:endParaRPr>
          </a:p>
          <a:p>
            <a:r>
              <a:rPr lang="en-GB" sz="2400" b="1" dirty="0">
                <a:latin typeface="Times New Roman MT" panose="020B0604020202020204" charset="0"/>
              </a:rPr>
              <a:t>Post-Route Timing Closure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dirty="0">
                <a:latin typeface="Times New Roman MT" panose="020B0604020202020204" charset="0"/>
              </a:rPr>
              <a:t>The AES-128 core operates successfully at 100 MHz with positive WNS and WHS, achieving 100% timing closure with zero failing endpoints.</a:t>
            </a:r>
          </a:p>
          <a:p>
            <a:r>
              <a:rPr lang="en-GB" sz="2400" b="1" dirty="0">
                <a:latin typeface="Times New Roman MT" panose="020B0604020202020204" charset="0"/>
              </a:rPr>
              <a:t>High Throughput Performance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dirty="0">
                <a:latin typeface="Times New Roman MT" panose="020B0604020202020204" charset="0"/>
              </a:rPr>
              <a:t>The core completes one 128-bit AES block in 10 clock cycles, achieving a sustained throughput of 1.28 Gbps.</a:t>
            </a:r>
          </a:p>
          <a:p>
            <a:r>
              <a:rPr lang="en-GB" sz="2400" b="1" dirty="0">
                <a:latin typeface="Times New Roman MT" panose="020B0604020202020204" charset="0"/>
              </a:rPr>
              <a:t>Ultra-Compact Resource Utilization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dirty="0">
                <a:latin typeface="Times New Roman MT" panose="020B0604020202020204" charset="0"/>
              </a:rPr>
              <a:t>The design uses only 4.01% LUTs and 0.63% registers, with 0 BRAM and 0 DSP48 slices, making it a pure logic-based implementation.</a:t>
            </a:r>
          </a:p>
          <a:p>
            <a:r>
              <a:rPr lang="en-GB" sz="2400" dirty="0">
                <a:latin typeface="Times New Roman MT" panose="020B0604020202020204" charset="0"/>
              </a:rPr>
              <a:t> </a:t>
            </a:r>
            <a:r>
              <a:rPr lang="en-GB" sz="2400" b="1" dirty="0">
                <a:latin typeface="Times New Roman MT" panose="020B0604020202020204" charset="0"/>
              </a:rPr>
              <a:t>Power Consumption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dirty="0">
                <a:latin typeface="Times New Roman MT" panose="020B0604020202020204" charset="0"/>
              </a:rPr>
              <a:t>The total on-chip power consumption is only 0.199 W (199 </a:t>
            </a:r>
            <a:r>
              <a:rPr lang="en-GB" sz="2400" dirty="0" err="1">
                <a:latin typeface="Times New Roman MT" panose="020B0604020202020204" charset="0"/>
              </a:rPr>
              <a:t>mW</a:t>
            </a:r>
            <a:r>
              <a:rPr lang="en-GB" sz="2400" dirty="0">
                <a:latin typeface="Times New Roman MT" panose="020B0604020202020204" charset="0"/>
              </a:rPr>
              <a:t>)</a:t>
            </a:r>
          </a:p>
          <a:p>
            <a:r>
              <a:rPr lang="en-GB" sz="2400" dirty="0">
                <a:latin typeface="Times New Roman MT" panose="020B0604020202020204" charset="0"/>
              </a:rPr>
              <a:t> </a:t>
            </a:r>
            <a:r>
              <a:rPr lang="en-GB" sz="2400" b="1" dirty="0">
                <a:latin typeface="Times New Roman MT" panose="020B0604020202020204" charset="0"/>
              </a:rPr>
              <a:t>Verification and Standards Compliance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dirty="0">
                <a:latin typeface="Times New Roman MT" panose="020B0604020202020204" charset="0"/>
              </a:rPr>
              <a:t>The design achieved 100% PASS in 284 NIST CAVP test vectors and verified all six AES operating modes successfully.</a:t>
            </a:r>
          </a:p>
          <a:p>
            <a:r>
              <a:rPr lang="en-GB" sz="2400" b="1" dirty="0">
                <a:latin typeface="Times New Roman MT" panose="020B0604020202020204" charset="0"/>
              </a:rPr>
              <a:t>Security Verification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dirty="0">
                <a:latin typeface="Times New Roman MT" panose="020B0604020202020204" charset="0"/>
              </a:rPr>
              <a:t>The design ensures write-only key protection, gated outputs during BUSY, and no internal state leakage through the AXI bus.</a:t>
            </a:r>
          </a:p>
          <a:p>
            <a:r>
              <a:rPr lang="en-GB" sz="2400" dirty="0">
                <a:latin typeface="Times New Roman MT" panose="020B0604020202020204" charset="0"/>
              </a:rPr>
              <a:t> </a:t>
            </a:r>
            <a:r>
              <a:rPr lang="en-GB" sz="2400" b="1" dirty="0">
                <a:latin typeface="Times New Roman MT" panose="020B0604020202020204" charset="0"/>
              </a:rPr>
              <a:t>Hardware Demonstration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400" dirty="0">
                <a:latin typeface="Times New Roman MT" panose="020B0604020202020204" charset="0"/>
              </a:rPr>
              <a:t>The AES core was demonstrated on the </a:t>
            </a:r>
            <a:r>
              <a:rPr lang="en-GB" sz="2400" dirty="0" err="1">
                <a:latin typeface="Times New Roman MT" panose="020B0604020202020204" charset="0"/>
              </a:rPr>
              <a:t>Digilent</a:t>
            </a:r>
            <a:r>
              <a:rPr lang="en-GB" sz="2400" dirty="0">
                <a:latin typeface="Times New Roman MT" panose="020B0604020202020204" charset="0"/>
              </a:rPr>
              <a:t> </a:t>
            </a:r>
            <a:r>
              <a:rPr lang="en-GB" sz="2400" dirty="0" err="1">
                <a:latin typeface="Times New Roman MT" panose="020B0604020202020204" charset="0"/>
              </a:rPr>
              <a:t>Nexys</a:t>
            </a:r>
            <a:r>
              <a:rPr lang="en-GB" sz="2400" dirty="0">
                <a:latin typeface="Times New Roman MT" panose="020B0604020202020204" charset="0"/>
              </a:rPr>
              <a:t> A7 (XC7A100T) using Python USB-UART streaming, 7-segment display, LEDs, and pushbuttons.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3E5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218565" y="3601951"/>
            <a:ext cx="1739141" cy="1042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09"/>
              </a:lnSpc>
            </a:pPr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1330294" y="3601951"/>
            <a:ext cx="1739141" cy="1042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09"/>
              </a:lnSpc>
            </a:pPr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4600883" y="-456041"/>
            <a:ext cx="8641637" cy="2621955"/>
          </a:xfrm>
          <a:custGeom>
            <a:avLst/>
            <a:gdLst/>
            <a:ahLst/>
            <a:cxnLst/>
            <a:rect l="l" t="t" r="r" b="b"/>
            <a:pathLst>
              <a:path w="8641637" h="2621955">
                <a:moveTo>
                  <a:pt x="0" y="0"/>
                </a:moveTo>
                <a:lnTo>
                  <a:pt x="8641637" y="0"/>
                </a:lnTo>
                <a:lnTo>
                  <a:pt x="8641637" y="2621955"/>
                </a:lnTo>
                <a:lnTo>
                  <a:pt x="0" y="26219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9862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-25783" y="9121442"/>
            <a:ext cx="1165558" cy="1165558"/>
          </a:xfrm>
          <a:custGeom>
            <a:avLst/>
            <a:gdLst/>
            <a:ahLst/>
            <a:cxnLst/>
            <a:rect l="l" t="t" r="r" b="b"/>
            <a:pathLst>
              <a:path w="1165558" h="1165558">
                <a:moveTo>
                  <a:pt x="0" y="0"/>
                </a:moveTo>
                <a:lnTo>
                  <a:pt x="1165558" y="0"/>
                </a:lnTo>
                <a:lnTo>
                  <a:pt x="1165558" y="1165558"/>
                </a:lnTo>
                <a:lnTo>
                  <a:pt x="0" y="11655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8780462" y="968727"/>
            <a:ext cx="8924116" cy="9318273"/>
          </a:xfrm>
          <a:custGeom>
            <a:avLst/>
            <a:gdLst/>
            <a:ahLst/>
            <a:cxnLst/>
            <a:rect l="l" t="t" r="r" b="b"/>
            <a:pathLst>
              <a:path w="8924116" h="9318273">
                <a:moveTo>
                  <a:pt x="0" y="0"/>
                </a:moveTo>
                <a:lnTo>
                  <a:pt x="8924116" y="0"/>
                </a:lnTo>
                <a:lnTo>
                  <a:pt x="8924116" y="9318273"/>
                </a:lnTo>
                <a:lnTo>
                  <a:pt x="0" y="93182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 rot="-10800000" flipH="1" flipV="1">
            <a:off x="16306848" y="7955884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6"/>
                </a:moveTo>
                <a:lnTo>
                  <a:pt x="0" y="2331116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 flipH="1" flipV="1">
            <a:off x="12341" y="-112715"/>
            <a:ext cx="1981152" cy="2331116"/>
          </a:xfrm>
          <a:custGeom>
            <a:avLst/>
            <a:gdLst/>
            <a:ahLst/>
            <a:cxnLst/>
            <a:rect l="l" t="t" r="r" b="b"/>
            <a:pathLst>
              <a:path w="1981152" h="2331116">
                <a:moveTo>
                  <a:pt x="1981152" y="2331117"/>
                </a:moveTo>
                <a:lnTo>
                  <a:pt x="0" y="2331117"/>
                </a:lnTo>
                <a:lnTo>
                  <a:pt x="0" y="0"/>
                </a:lnTo>
                <a:lnTo>
                  <a:pt x="1981152" y="0"/>
                </a:lnTo>
                <a:lnTo>
                  <a:pt x="1981152" y="2331117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6835744" y="146866"/>
            <a:ext cx="1204458" cy="1416140"/>
          </a:xfrm>
          <a:custGeom>
            <a:avLst/>
            <a:gdLst/>
            <a:ahLst/>
            <a:cxnLst/>
            <a:rect l="l" t="t" r="r" b="b"/>
            <a:pathLst>
              <a:path w="1204458" h="1416140">
                <a:moveTo>
                  <a:pt x="0" y="0"/>
                </a:moveTo>
                <a:lnTo>
                  <a:pt x="1204458" y="0"/>
                </a:lnTo>
                <a:lnTo>
                  <a:pt x="1204458" y="1416140"/>
                </a:lnTo>
                <a:lnTo>
                  <a:pt x="0" y="14161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33723" t="-76170" r="-689472" b="-85561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TextBox 10"/>
          <p:cNvSpPr txBox="1"/>
          <p:nvPr/>
        </p:nvSpPr>
        <p:spPr>
          <a:xfrm>
            <a:off x="457200" y="3552582"/>
            <a:ext cx="17830800" cy="33091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52"/>
              </a:lnSpc>
            </a:pPr>
            <a:endParaRPr lang="en-US" sz="3680" b="1" dirty="0">
              <a:solidFill>
                <a:srgbClr val="000000"/>
              </a:solidFill>
              <a:latin typeface="Times New Roman MT" panose="020B0604020202020204" charset="0"/>
              <a:ea typeface="Horizon"/>
              <a:cs typeface="Horizon"/>
              <a:sym typeface="Horizon"/>
            </a:endParaRPr>
          </a:p>
          <a:p>
            <a:pPr algn="ctr">
              <a:lnSpc>
                <a:spcPts val="5152"/>
              </a:lnSpc>
            </a:pPr>
            <a:endParaRPr lang="en-US" sz="3680" b="1" dirty="0">
              <a:solidFill>
                <a:srgbClr val="000000"/>
              </a:solidFill>
              <a:latin typeface="Horizon" panose="020B0604020202020204" charset="0"/>
              <a:ea typeface="Horizon"/>
              <a:cs typeface="Horizon"/>
              <a:sym typeface="Horizon"/>
            </a:endParaRPr>
          </a:p>
          <a:p>
            <a:pPr algn="ctr">
              <a:lnSpc>
                <a:spcPts val="5152"/>
              </a:lnSpc>
            </a:pPr>
            <a:endParaRPr lang="en-US" sz="3680" b="1" dirty="0">
              <a:solidFill>
                <a:srgbClr val="000000"/>
              </a:solidFill>
              <a:latin typeface="Times New Roman MT" panose="020B0604020202020204" charset="0"/>
              <a:ea typeface="Horizon"/>
              <a:cs typeface="Horizon"/>
              <a:sym typeface="Horizon"/>
            </a:endParaRPr>
          </a:p>
          <a:p>
            <a:pPr algn="ctr">
              <a:lnSpc>
                <a:spcPts val="5152"/>
              </a:lnSpc>
            </a:pPr>
            <a:endParaRPr lang="en-US" sz="3680" dirty="0">
              <a:solidFill>
                <a:srgbClr val="000000"/>
              </a:solidFill>
              <a:latin typeface="Horizon"/>
              <a:ea typeface="Horizon"/>
              <a:cs typeface="Horizon"/>
              <a:sym typeface="Horizon"/>
            </a:endParaRPr>
          </a:p>
          <a:p>
            <a:pPr algn="ctr">
              <a:lnSpc>
                <a:spcPts val="5152"/>
              </a:lnSpc>
            </a:pPr>
            <a:endParaRPr lang="en-US" sz="3680" dirty="0">
              <a:solidFill>
                <a:srgbClr val="000000"/>
              </a:solidFill>
              <a:latin typeface="Horizon"/>
              <a:ea typeface="Horizon"/>
              <a:cs typeface="Horizon"/>
              <a:sym typeface="Horizo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3D6C63-2169-1235-4C46-0396467BFD6C}"/>
              </a:ext>
            </a:extLst>
          </p:cNvPr>
          <p:cNvSpPr txBox="1"/>
          <p:nvPr/>
        </p:nvSpPr>
        <p:spPr>
          <a:xfrm>
            <a:off x="762000" y="3026743"/>
            <a:ext cx="15087600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Horizon" panose="020B0604020202020204" charset="0"/>
              </a:rPr>
              <a:t>References</a:t>
            </a:r>
          </a:p>
          <a:p>
            <a:endParaRPr lang="en-GB" sz="2800" dirty="0">
              <a:latin typeface="Times New Roman MT" panose="020B0604020202020204" charset="0"/>
            </a:endParaRPr>
          </a:p>
          <a:p>
            <a:r>
              <a:rPr lang="en-GB" sz="2800" b="1" dirty="0">
                <a:latin typeface="Times New Roman MT" panose="020B0604020202020204" charset="0"/>
              </a:rPr>
              <a:t>NIST FIPS 197: </a:t>
            </a:r>
            <a:r>
              <a:rPr lang="en-GB" sz="2800" dirty="0">
                <a:latin typeface="Times New Roman MT" panose="020B0604020202020204" charset="0"/>
              </a:rPr>
              <a:t>Advanced Encryption Standard (AES) — National Institute of Standards and Technology.</a:t>
            </a:r>
          </a:p>
          <a:p>
            <a:r>
              <a:rPr lang="en-GB" sz="2800" b="1" dirty="0">
                <a:latin typeface="Times New Roman MT" panose="020B0604020202020204" charset="0"/>
              </a:rPr>
              <a:t>NIST SP 800-38A: </a:t>
            </a:r>
            <a:r>
              <a:rPr lang="en-GB" sz="2800" dirty="0">
                <a:latin typeface="Times New Roman MT" panose="020B0604020202020204" charset="0"/>
              </a:rPr>
              <a:t>Recommendation for Block Cipher Modes of Operation (ECB, CBC, OFB, CFB, CTR).</a:t>
            </a:r>
          </a:p>
          <a:p>
            <a:r>
              <a:rPr lang="en-GB" sz="2800" b="1" dirty="0">
                <a:latin typeface="Times New Roman MT" panose="020B0604020202020204" charset="0"/>
              </a:rPr>
              <a:t>NIST SP 800-38D: </a:t>
            </a:r>
            <a:r>
              <a:rPr lang="en-GB" sz="2800" dirty="0">
                <a:latin typeface="Times New Roman MT" panose="020B0604020202020204" charset="0"/>
              </a:rPr>
              <a:t>Recommendation for Block Cipher Modes of Operation: Galois/Counter Mode (GCM) and GMAC.</a:t>
            </a:r>
          </a:p>
          <a:p>
            <a:r>
              <a:rPr lang="en-GB" sz="2800" b="1" dirty="0">
                <a:latin typeface="Times New Roman MT" panose="020B0604020202020204" charset="0"/>
              </a:rPr>
              <a:t>RFC 2898 / RFC 5652: PKCS #5: </a:t>
            </a:r>
            <a:r>
              <a:rPr lang="en-GB" sz="2800" dirty="0">
                <a:latin typeface="Times New Roman MT" panose="020B0604020202020204" charset="0"/>
              </a:rPr>
              <a:t>Password-Based Cryptography / PKCS #7: Cryptographic Message Syntax (Padding).</a:t>
            </a:r>
          </a:p>
          <a:p>
            <a:r>
              <a:rPr lang="en-GB" sz="2800" b="1" dirty="0">
                <a:latin typeface="Times New Roman MT" panose="020B0604020202020204" charset="0"/>
              </a:rPr>
              <a:t>ARM AMBA® AXI and ACE Protocol Specification: </a:t>
            </a:r>
            <a:r>
              <a:rPr lang="en-GB" sz="2800" dirty="0">
                <a:latin typeface="Times New Roman MT" panose="020B0604020202020204" charset="0"/>
              </a:rPr>
              <a:t>AXI4 Memory-Mapped Protocol (ARM IHI 0022E).</a:t>
            </a:r>
          </a:p>
          <a:p>
            <a:r>
              <a:rPr lang="en-GB" sz="2800" b="1" dirty="0">
                <a:latin typeface="Times New Roman MT" panose="020B0604020202020204" charset="0"/>
              </a:rPr>
              <a:t>AMD / Xilinx UG900 &amp; UG902: </a:t>
            </a:r>
            <a:r>
              <a:rPr lang="en-GB" sz="2800" dirty="0" err="1">
                <a:latin typeface="Times New Roman MT" panose="020B0604020202020204" charset="0"/>
              </a:rPr>
              <a:t>Vivado</a:t>
            </a:r>
            <a:r>
              <a:rPr lang="en-GB" sz="2800" dirty="0">
                <a:latin typeface="Times New Roman MT" panose="020B0604020202020204" charset="0"/>
              </a:rPr>
              <a:t> Design Suite User Guide: Logic Simulation, Synthesis, and Implementation</a:t>
            </a:r>
            <a:r>
              <a:rPr lang="en-GB"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884</Words>
  <Application>Microsoft Office PowerPoint</Application>
  <PresentationFormat>Custom</PresentationFormat>
  <Paragraphs>77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Wingdings</vt:lpstr>
      <vt:lpstr>Calibri</vt:lpstr>
      <vt:lpstr>Times New Roman MT Bold</vt:lpstr>
      <vt:lpstr>Canva Sans Bold</vt:lpstr>
      <vt:lpstr>Horizon</vt:lpstr>
      <vt:lpstr>Times New Roman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NAME</dc:title>
  <cp:lastModifiedBy>hp hp</cp:lastModifiedBy>
  <cp:revision>2</cp:revision>
  <dcterms:created xsi:type="dcterms:W3CDTF">2006-08-16T00:00:00Z</dcterms:created>
  <dcterms:modified xsi:type="dcterms:W3CDTF">2026-08-29T04:23:10Z</dcterms:modified>
  <dc:identifier>DAHTdevX50Q</dc:identifier>
</cp:coreProperties>
</file>